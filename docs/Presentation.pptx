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GB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06493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14068111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160722799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102232405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95880293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0671743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904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75175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>
                <a:latin typeface="Arial"/>
                <a:cs typeface="Arial"/>
              </a:rPr>
              <a:t>test</a:t>
            </a:r>
            <a:endParaRPr lang="en-GB">
              <a:latin typeface="Arial"/>
              <a:cs typeface="Arial"/>
            </a:endParaRPr>
          </a:p>
        </p:txBody>
      </p:sp>
      <p:sp>
        <p:nvSpPr>
          <p:cNvPr id="802555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6708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2934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615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7E4213-74E5-DEF1-2ABA-2E950A2C55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4607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09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8808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0177EA-ACEA-F4F8-49E0-A7D0DBAC1F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543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134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757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6F0A82-43BE-0F16-161B-4033A12C27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119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577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0623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AC2726-9540-70F1-5044-4BE2F42F8D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3183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49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7246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63FAC3-0590-13D3-70A7-4DE651218A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0882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540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966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C4C24C-060C-2C34-42B7-494051AFC1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84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51642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6296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3A2333-0FF5-0E02-516F-B6F424CDA8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4852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0799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24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7A956E-75CD-C519-E470-5D664D21D7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3062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781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843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CCA250-3E2F-ED8E-853B-B283526197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848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6496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149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0A4C76-5D87-787B-AA05-BDBFC303C4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0476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4925062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11736029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2229625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008433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95439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6000" y="365123"/>
            <a:ext cx="11348357" cy="86518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52561723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6000" y="1389061"/>
            <a:ext cx="11348357" cy="47878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marL="1371600" lvl="3" indent="0">
              <a:buFont typeface="Arial"/>
              <a:buNone/>
              <a:defRPr/>
            </a:pPr>
            <a:endParaRPr/>
          </a:p>
          <a:p>
            <a:pPr lvl="4">
              <a:defRPr/>
            </a:pPr>
            <a:endParaRPr lang="en-GB"/>
          </a:p>
        </p:txBody>
      </p:sp>
      <p:sp>
        <p:nvSpPr>
          <p:cNvPr id="13096075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4702480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545638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62206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672285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193866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6779831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000508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4174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1796247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3969001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2362242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6821506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264962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53954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7683195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24557663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10335453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46011185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206164560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60996262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8971444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4815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30888678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75329260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7589648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99390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17024224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2305962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84067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89727595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08429262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6648766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4849286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747814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65528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6765903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GB"/>
          </a:p>
        </p:txBody>
      </p:sp>
      <p:sp>
        <p:nvSpPr>
          <p:cNvPr id="5943668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017726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7354072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120111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0692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4812500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5681576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8929950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718253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9821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79172361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9868079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2933725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362105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>
            <a:alpha val="9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87461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2318098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27903757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06193512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524425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media1.svg"/><Relationship Id="rId5" Type="http://schemas.openxmlformats.org/officeDocument/2006/relationships/image" Target="../media/image4.png"/><Relationship Id="rId6" Type="http://schemas.openxmlformats.org/officeDocument/2006/relationships/image" Target="../media/media2.svg"/><Relationship Id="rId7" Type="http://schemas.openxmlformats.org/officeDocument/2006/relationships/image" Target="../media/image5.png"/><Relationship Id="rId8" Type="http://schemas.openxmlformats.org/officeDocument/2006/relationships/image" Target="../media/media3.sv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media4.svg"/><Relationship Id="rId13" Type="http://schemas.openxmlformats.org/officeDocument/2006/relationships/image" Target="../media/image9.png"/><Relationship Id="rId14" Type="http://schemas.openxmlformats.org/officeDocument/2006/relationships/image" Target="../media/media5.svg"/><Relationship Id="rId15" Type="http://schemas.openxmlformats.org/officeDocument/2006/relationships/image" Target="../media/image10.png"/><Relationship Id="rId16" Type="http://schemas.openxmlformats.org/officeDocument/2006/relationships/image" Target="../media/image11.png"/><Relationship Id="rId17" Type="http://schemas.openxmlformats.org/officeDocument/2006/relationships/image" Target="../media/media6.sv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media7.svg"/><Relationship Id="rId21" Type="http://schemas.openxmlformats.org/officeDocument/2006/relationships/image" Target="../media/image14.png"/><Relationship Id="rId22" Type="http://schemas.openxmlformats.org/officeDocument/2006/relationships/image" Target="../media/media8.svg"/><Relationship Id="rId23" Type="http://schemas.openxmlformats.org/officeDocument/2006/relationships/image" Target="../media/image15.png"/><Relationship Id="rId24" Type="http://schemas.openxmlformats.org/officeDocument/2006/relationships/image" Target="../media/image16.png"/><Relationship Id="rId25" Type="http://schemas.openxmlformats.org/officeDocument/2006/relationships/image" Target="../media/media9.svg"/><Relationship Id="rId26" Type="http://schemas.openxmlformats.org/officeDocument/2006/relationships/image" Target="../media/image17.png"/><Relationship Id="rId27" Type="http://schemas.openxmlformats.org/officeDocument/2006/relationships/image" Target="../media/image18.png"/><Relationship Id="rId28" Type="http://schemas.openxmlformats.org/officeDocument/2006/relationships/image" Target="../media/media10.svg"/><Relationship Id="rId29" Type="http://schemas.openxmlformats.org/officeDocument/2006/relationships/image" Target="../media/image19.png"/><Relationship Id="rId30" Type="http://schemas.openxmlformats.org/officeDocument/2006/relationships/image" Target="../media/media11.svg"/><Relationship Id="rId31" Type="http://schemas.openxmlformats.org/officeDocument/2006/relationships/image" Target="../media/image20.png"/><Relationship Id="rId32" Type="http://schemas.openxmlformats.org/officeDocument/2006/relationships/image" Target="../media/image21.png"/><Relationship Id="rId33" Type="http://schemas.openxmlformats.org/officeDocument/2006/relationships/image" Target="../media/media12.svg"/><Relationship Id="rId34" Type="http://schemas.openxmlformats.org/officeDocument/2006/relationships/image" Target="../media/image2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93453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60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Final Project</a:t>
            </a:r>
            <a:r>
              <a:rPr lang="en-GB">
                <a:latin typeface="Nimbus Sans"/>
                <a:ea typeface="Nimbus Sans"/>
                <a:cs typeface="Nimbus Sans"/>
              </a:rPr>
              <a:t> Presentation</a:t>
            </a:r>
            <a:endParaRPr>
              <a:latin typeface="Nimbus Sans"/>
              <a:cs typeface="Nimbus Sans"/>
            </a:endParaRPr>
          </a:p>
        </p:txBody>
      </p:sp>
      <p:sp>
        <p:nvSpPr>
          <p:cNvPr id="11452682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by Baris Top 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8866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Contents</a:t>
            </a:r>
            <a:endParaRPr>
              <a:latin typeface="Nimbus Sans"/>
              <a:cs typeface="Nimbus Sans"/>
            </a:endParaRPr>
          </a:p>
        </p:txBody>
      </p:sp>
      <p:sp>
        <p:nvSpPr>
          <p:cNvPr id="178708865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383008" indent="-383008">
              <a:buFont typeface="Arial"/>
              <a:buAutoNum type="arabicPeriod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Overview of the App</a:t>
            </a:r>
            <a:endParaRPr sz="28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 marL="383008" indent="-383008">
              <a:buFont typeface="Arial"/>
              <a:buAutoNum type="arabicPeriod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Architecture Diagram</a:t>
            </a:r>
            <a:endParaRPr sz="28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 marL="383008" indent="-383008">
              <a:buFont typeface="Arial"/>
              <a:buAutoNum type="arabicPeriod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Tech Stack</a:t>
            </a:r>
            <a:endParaRPr sz="28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 marL="383008" indent="-383008">
              <a:buFont typeface="Arial"/>
              <a:buAutoNum type="arabicPeriod"/>
              <a:defRPr/>
            </a:pPr>
            <a:r>
              <a:rPr lang="en-GB" sz="27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Infrastructure Provisioning</a:t>
            </a:r>
            <a:endParaRPr sz="28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 marL="383008" indent="-383008">
              <a:buFont typeface="Arial"/>
              <a:buAutoNum type="arabicPeriod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How to deploy dev &amp; prod</a:t>
            </a:r>
            <a:endParaRPr sz="28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 marL="383008" indent="-383008">
              <a:buFont typeface="Arial"/>
              <a:buAutoNum type="arabicPeriod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CI/CD Pipeline &amp; DevSecOps</a:t>
            </a:r>
            <a:endParaRPr sz="28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 marL="383008" indent="-383008">
              <a:buFont typeface="Arial"/>
              <a:buAutoNum type="arabicPeriod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Resilience &amp; Disaster Recovery</a:t>
            </a:r>
            <a:endParaRPr sz="28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49952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6000" y="365123"/>
            <a:ext cx="11348357" cy="865186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1. Overview of the App</a:t>
            </a:r>
            <a:endParaRPr>
              <a:latin typeface="Nimbus Sans"/>
              <a:cs typeface="Nimbus Sans"/>
            </a:endParaRPr>
          </a:p>
        </p:txBody>
      </p:sp>
      <p:sp>
        <p:nvSpPr>
          <p:cNvPr id="21109798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6000" y="1389061"/>
            <a:ext cx="11348357" cy="47878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</a:lstStyle>
          <a:p>
            <a:pPr>
              <a:lnSpc>
                <a:spcPct val="114999"/>
              </a:lnSpc>
              <a:defRPr/>
            </a:pPr>
            <a:r>
              <a:rPr lang="en-GB" sz="24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Foundation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: Utilizing the Spring Petclinic as a baseline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.</a:t>
            </a: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lnSpc>
                <a:spcPct val="114999"/>
              </a:lnSpc>
              <a:defRPr/>
            </a:pPr>
            <a:r>
              <a:rPr lang="en-GB" sz="24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Core Components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: Separation of Angular Frontend, Spring Boot REST API, and a persistent PostgreSQL Database.</a:t>
            </a: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lnSpc>
                <a:spcPct val="114999"/>
              </a:lnSpc>
              <a:defRPr/>
            </a:pPr>
            <a:r>
              <a:rPr lang="en-GB" sz="24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Key Objectives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: Operational efficiency, independent scalability, and full automation via CI/CD pipelines.</a:t>
            </a: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lnSpc>
                <a:spcPct val="114999"/>
              </a:lnSpc>
              <a:defRPr/>
            </a:pPr>
            <a:r>
              <a:rPr lang="en-GB" sz="24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Project Management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: Managed with </a:t>
            </a:r>
            <a:br>
              <a:rPr lang="en-GB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</a:br>
            <a:r>
              <a:rPr lang="en-GB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Agile/Kanban methodology using </a:t>
            </a:r>
            <a:br>
              <a:rPr lang="en-GB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</a:br>
            <a:r>
              <a:rPr lang="en-GB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GitHub Issues and Project Boards.</a:t>
            </a: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</p:txBody>
      </p:sp>
      <p:pic>
        <p:nvPicPr>
          <p:cNvPr id="463589700" name="Picture 1768224297"/>
          <p:cNvPicPr>
            <a:picLocks noChangeAspect="1"/>
          </p:cNvPicPr>
          <p:nvPr/>
        </p:nvPicPr>
        <p:blipFill rotWithShape="1">
          <a:blip r:embed="rId3">
            <a:alphaModFix amt="99999"/>
          </a:blip>
          <a:stretch/>
        </p:blipFill>
        <p:spPr bwMode="auto">
          <a:xfrm rot="0" flipH="0" flipV="0">
            <a:off x="6251649" y="3891642"/>
            <a:ext cx="5288600" cy="26927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83624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6000" y="365123"/>
            <a:ext cx="11348357" cy="865186"/>
          </a:xfrm>
        </p:spPr>
        <p:txBody>
          <a:bodyPr/>
          <a:lstStyle/>
          <a:p>
            <a:pPr>
              <a:defRPr/>
            </a:pPr>
            <a:r>
              <a:rPr lang="de-DE">
                <a:latin typeface="Nimbus Sans"/>
                <a:ea typeface="Nimbus Sans"/>
                <a:cs typeface="Nimbus Sans"/>
              </a:rPr>
              <a:t>2. </a:t>
            </a:r>
            <a:r>
              <a:rPr lang="en-GB" sz="4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Architecture Diagram</a:t>
            </a:r>
            <a:endParaRPr>
              <a:latin typeface="Nimbus Sans"/>
              <a:cs typeface="Nimbus Sans"/>
            </a:endParaRPr>
          </a:p>
        </p:txBody>
      </p:sp>
      <p:pic>
        <p:nvPicPr>
          <p:cNvPr id="59918046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96000" y="1336142"/>
            <a:ext cx="10154241" cy="53582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51230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6000" y="365123"/>
            <a:ext cx="11348357" cy="865186"/>
          </a:xfrm>
        </p:spPr>
        <p:txBody>
          <a:bodyPr/>
          <a:lstStyle/>
          <a:p>
            <a:pPr>
              <a:defRPr/>
            </a:pPr>
            <a:r>
              <a:rPr lang="de-DE" sz="4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3</a:t>
            </a:r>
            <a:r>
              <a:rPr lang="en-GB" sz="4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. </a:t>
            </a:r>
            <a:r>
              <a:rPr lang="de-DE" sz="4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Tech Stack</a:t>
            </a:r>
            <a:endParaRPr>
              <a:latin typeface="Nimbus Sans"/>
              <a:cs typeface="Nimbus Sans"/>
            </a:endParaRPr>
          </a:p>
        </p:txBody>
      </p:sp>
      <p:sp>
        <p:nvSpPr>
          <p:cNvPr id="123195688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6000" y="1389061"/>
            <a:ext cx="11348357" cy="464343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</a:lstStyle>
          <a:p>
            <a:pPr>
              <a:lnSpc>
                <a:spcPct val="114999"/>
              </a:lnSpc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Application &amp; Persistence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: </a:t>
            </a: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lnSpc>
                <a:spcPct val="114999"/>
              </a:lnSpc>
              <a:defRPr/>
            </a:pP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lnSpc>
                <a:spcPct val="114999"/>
              </a:lnSpc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Infrastructure &amp; IaC: </a:t>
            </a: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lnSpc>
                <a:spcPct val="114999"/>
              </a:lnSpc>
              <a:defRPr/>
            </a:pP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lnSpc>
                <a:spcPct val="114999"/>
              </a:lnSpc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Deployment &amp; GitOps: </a:t>
            </a: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lnSpc>
                <a:spcPct val="114999"/>
              </a:lnSpc>
              <a:defRPr/>
            </a:pP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lnSpc>
                <a:spcPct val="114999"/>
              </a:lnSpc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Observability &amp; Security: </a:t>
            </a: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lnSpc>
                <a:spcPct val="114999"/>
              </a:lnSpc>
              <a:defRPr/>
            </a:pP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</p:txBody>
      </p:sp>
      <p:pic>
        <p:nvPicPr>
          <p:cNvPr id="945024492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4410000" y="1389600"/>
            <a:ext cx="504000" cy="504000"/>
          </a:xfrm>
          <a:prstGeom prst="rect">
            <a:avLst/>
          </a:prstGeom>
        </p:spPr>
      </p:pic>
      <p:pic>
        <p:nvPicPr>
          <p:cNvPr id="1030579927" name="Picture 2117951868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rot="0" flipH="0" flipV="0">
            <a:off x="5050798" y="1442108"/>
            <a:ext cx="398983" cy="398983"/>
          </a:xfrm>
          <a:prstGeom prst="rect">
            <a:avLst/>
          </a:prstGeom>
        </p:spPr>
      </p:pic>
      <p:pic>
        <p:nvPicPr>
          <p:cNvPr id="1355854782" name="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5667936" y="1438849"/>
            <a:ext cx="402241" cy="402241"/>
          </a:xfrm>
          <a:prstGeom prst="rect">
            <a:avLst/>
          </a:prstGeom>
        </p:spPr>
      </p:pic>
      <p:pic>
        <p:nvPicPr>
          <p:cNvPr id="185570947" name=""/>
          <p:cNvPicPr>
            <a:picLocks noChangeAspect="1"/>
          </p:cNvPicPr>
          <p:nvPr/>
        </p:nvPicPr>
        <p:blipFill rotWithShape="1">
          <a:blip r:embed="rId9"/>
        </p:blipFill>
        <p:spPr bwMode="auto">
          <a:xfrm rot="0" flipH="0" flipV="0">
            <a:off x="4407876" y="2524123"/>
            <a:ext cx="504000" cy="417600"/>
          </a:xfrm>
          <a:prstGeom prst="rect">
            <a:avLst/>
          </a:prstGeom>
        </p:spPr>
      </p:pic>
      <p:pic>
        <p:nvPicPr>
          <p:cNvPr id="1086355164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rot="0" flipH="0" flipV="0">
            <a:off x="4998291" y="2488124"/>
            <a:ext cx="504000" cy="489600"/>
          </a:xfrm>
          <a:prstGeom prst="rect">
            <a:avLst/>
          </a:prstGeom>
        </p:spPr>
      </p:pic>
      <p:pic>
        <p:nvPicPr>
          <p:cNvPr id="943005216" name=""/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 bwMode="auto">
          <a:xfrm rot="0" flipH="0" flipV="0">
            <a:off x="5617057" y="2473723"/>
            <a:ext cx="504000" cy="504000"/>
          </a:xfrm>
          <a:prstGeom prst="rect">
            <a:avLst/>
          </a:prstGeom>
        </p:spPr>
      </p:pic>
      <p:pic>
        <p:nvPicPr>
          <p:cNvPr id="804847083" name=""/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 bwMode="auto">
          <a:xfrm rot="0" flipH="0" flipV="0">
            <a:off x="6234897" y="2524124"/>
            <a:ext cx="504000" cy="504000"/>
          </a:xfrm>
          <a:prstGeom prst="rect">
            <a:avLst/>
          </a:prstGeom>
        </p:spPr>
      </p:pic>
      <p:pic>
        <p:nvPicPr>
          <p:cNvPr id="1073045171" name="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 rot="0" flipH="0" flipV="0">
            <a:off x="4268955" y="3429000"/>
            <a:ext cx="781843" cy="781843"/>
          </a:xfrm>
          <a:prstGeom prst="rect">
            <a:avLst/>
          </a:prstGeom>
        </p:spPr>
      </p:pic>
      <p:pic>
        <p:nvPicPr>
          <p:cNvPr id="411521704" name=""/>
          <p:cNvPicPr>
            <a:picLocks noChangeAspect="1"/>
          </p:cNvPicPr>
          <p:nvPr/>
        </p:nvPicPr>
        <p:blipFill rotWithShape="1"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 bwMode="auto">
          <a:xfrm rot="0" flipH="0" flipV="0">
            <a:off x="4998291" y="3567921"/>
            <a:ext cx="504000" cy="504000"/>
          </a:xfrm>
          <a:prstGeom prst="rect">
            <a:avLst/>
          </a:prstGeom>
        </p:spPr>
      </p:pic>
      <p:pic>
        <p:nvPicPr>
          <p:cNvPr id="1988657479" name=""/>
          <p:cNvPicPr>
            <a:picLocks noChangeAspect="1"/>
          </p:cNvPicPr>
          <p:nvPr/>
        </p:nvPicPr>
        <p:blipFill rotWithShape="1">
          <a:blip r:embed="rId18"/>
          <a:stretch/>
        </p:blipFill>
        <p:spPr bwMode="auto">
          <a:xfrm flipH="0" flipV="0">
            <a:off x="6115800" y="3476624"/>
            <a:ext cx="742192" cy="742192"/>
          </a:xfrm>
          <a:prstGeom prst="rect">
            <a:avLst/>
          </a:prstGeom>
        </p:spPr>
      </p:pic>
      <p:pic>
        <p:nvPicPr>
          <p:cNvPr id="1088646466" name=""/>
          <p:cNvPicPr>
            <a:picLocks noChangeAspect="1"/>
          </p:cNvPicPr>
          <p:nvPr/>
        </p:nvPicPr>
        <p:blipFill rotWithShape="1"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 bwMode="auto">
          <a:xfrm rot="0" flipH="0" flipV="0">
            <a:off x="4407877" y="4667249"/>
            <a:ext cx="504000" cy="504000"/>
          </a:xfrm>
          <a:prstGeom prst="rect">
            <a:avLst/>
          </a:prstGeom>
        </p:spPr>
      </p:pic>
      <p:pic>
        <p:nvPicPr>
          <p:cNvPr id="1269231043" name=""/>
          <p:cNvPicPr>
            <a:picLocks noChangeAspect="1"/>
          </p:cNvPicPr>
          <p:nvPr/>
        </p:nvPicPr>
        <p:blipFill rotWithShape="1"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/>
        </p:blipFill>
        <p:spPr bwMode="auto">
          <a:xfrm rot="0" flipH="0" flipV="0">
            <a:off x="4998291" y="4651049"/>
            <a:ext cx="504000" cy="536400"/>
          </a:xfrm>
          <a:prstGeom prst="rect">
            <a:avLst/>
          </a:prstGeom>
        </p:spPr>
      </p:pic>
      <p:pic>
        <p:nvPicPr>
          <p:cNvPr id="1391092152" name=""/>
          <p:cNvPicPr>
            <a:picLocks noChangeAspect="1"/>
          </p:cNvPicPr>
          <p:nvPr/>
        </p:nvPicPr>
        <p:blipFill rotWithShape="1">
          <a:blip r:embed="rId23"/>
          <a:stretch/>
        </p:blipFill>
        <p:spPr bwMode="auto">
          <a:xfrm rot="0" flipH="0" flipV="0">
            <a:off x="5656458" y="4612443"/>
            <a:ext cx="942562" cy="558804"/>
          </a:xfrm>
          <a:prstGeom prst="rect">
            <a:avLst/>
          </a:prstGeom>
        </p:spPr>
      </p:pic>
      <p:pic>
        <p:nvPicPr>
          <p:cNvPr id="577444839" name=""/>
          <p:cNvPicPr>
            <a:picLocks noChangeAspect="1"/>
          </p:cNvPicPr>
          <p:nvPr/>
        </p:nvPicPr>
        <p:blipFill rotWithShape="1"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 bwMode="auto">
          <a:xfrm rot="0" flipH="0" flipV="0">
            <a:off x="5591999" y="3567921"/>
            <a:ext cx="504000" cy="504000"/>
          </a:xfrm>
          <a:prstGeom prst="rect">
            <a:avLst/>
          </a:prstGeom>
        </p:spPr>
      </p:pic>
      <p:pic>
        <p:nvPicPr>
          <p:cNvPr id="655157902" name=""/>
          <p:cNvPicPr>
            <a:picLocks noChangeAspect="1"/>
          </p:cNvPicPr>
          <p:nvPr/>
        </p:nvPicPr>
        <p:blipFill rotWithShape="1">
          <a:blip r:embed="rId26"/>
          <a:stretch/>
        </p:blipFill>
        <p:spPr bwMode="auto">
          <a:xfrm flipH="0" flipV="0">
            <a:off x="6738897" y="4747825"/>
            <a:ext cx="870495" cy="342848"/>
          </a:xfrm>
          <a:prstGeom prst="rect">
            <a:avLst/>
          </a:prstGeom>
        </p:spPr>
      </p:pic>
      <p:pic>
        <p:nvPicPr>
          <p:cNvPr id="1437584819" name=""/>
          <p:cNvPicPr>
            <a:picLocks noChangeAspect="1"/>
          </p:cNvPicPr>
          <p:nvPr/>
        </p:nvPicPr>
        <p:blipFill rotWithShape="1"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/>
        </p:blipFill>
        <p:spPr bwMode="auto">
          <a:xfrm rot="0" flipH="0" flipV="0">
            <a:off x="6857993" y="2480185"/>
            <a:ext cx="438427" cy="591878"/>
          </a:xfrm>
          <a:prstGeom prst="rect">
            <a:avLst/>
          </a:prstGeom>
        </p:spPr>
      </p:pic>
      <p:pic>
        <p:nvPicPr>
          <p:cNvPr id="968793316" name=""/>
          <p:cNvPicPr>
            <a:picLocks noChangeAspect="1"/>
          </p:cNvPicPr>
          <p:nvPr/>
        </p:nvPicPr>
        <p:blipFill rotWithShape="1"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/>
        </p:blipFill>
        <p:spPr bwMode="auto">
          <a:xfrm rot="0" flipH="0" flipV="0">
            <a:off x="7419600" y="2534400"/>
            <a:ext cx="504000" cy="504000"/>
          </a:xfrm>
          <a:prstGeom prst="rect">
            <a:avLst/>
          </a:prstGeom>
        </p:spPr>
      </p:pic>
      <p:pic>
        <p:nvPicPr>
          <p:cNvPr id="1838706362" name=""/>
          <p:cNvPicPr>
            <a:picLocks noChangeAspect="1"/>
          </p:cNvPicPr>
          <p:nvPr/>
        </p:nvPicPr>
        <p:blipFill rotWithShape="1">
          <a:blip r:embed="rId31"/>
          <a:stretch/>
        </p:blipFill>
        <p:spPr bwMode="auto">
          <a:xfrm flipH="0" flipV="0">
            <a:off x="6822454" y="3497275"/>
            <a:ext cx="687630" cy="721541"/>
          </a:xfrm>
          <a:prstGeom prst="rect">
            <a:avLst/>
          </a:prstGeom>
        </p:spPr>
      </p:pic>
      <p:pic>
        <p:nvPicPr>
          <p:cNvPr id="257500707" name=""/>
          <p:cNvPicPr>
            <a:picLocks noChangeAspect="1"/>
          </p:cNvPicPr>
          <p:nvPr/>
        </p:nvPicPr>
        <p:blipFill rotWithShape="1"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/>
        </p:blipFill>
        <p:spPr bwMode="auto">
          <a:xfrm rot="0" flipH="0" flipV="0">
            <a:off x="8053200" y="2509200"/>
            <a:ext cx="468000" cy="493200"/>
          </a:xfrm>
          <a:prstGeom prst="rect">
            <a:avLst/>
          </a:prstGeom>
        </p:spPr>
      </p:pic>
      <p:pic>
        <p:nvPicPr>
          <p:cNvPr id="2023004210" name=""/>
          <p:cNvPicPr>
            <a:picLocks noChangeAspect="1"/>
          </p:cNvPicPr>
          <p:nvPr/>
        </p:nvPicPr>
        <p:blipFill rotWithShape="1">
          <a:blip r:embed="rId34"/>
          <a:stretch/>
        </p:blipFill>
        <p:spPr bwMode="auto">
          <a:xfrm flipH="0" flipV="0">
            <a:off x="7764370" y="4667249"/>
            <a:ext cx="577658" cy="577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63873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6000" y="365123"/>
            <a:ext cx="11348357" cy="865186"/>
          </a:xfrm>
        </p:spPr>
        <p:txBody>
          <a:bodyPr/>
          <a:lstStyle/>
          <a:p>
            <a:pPr>
              <a:defRPr/>
            </a:pPr>
            <a:r>
              <a:rPr lang="de-DE" sz="4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4. I</a:t>
            </a:r>
            <a:r>
              <a:rPr lang="de-DE" sz="4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nfrastructure Provisioning</a:t>
            </a:r>
            <a:endParaRPr>
              <a:latin typeface="Nimbus Sans"/>
              <a:cs typeface="Nimbus Sans"/>
            </a:endParaRPr>
          </a:p>
        </p:txBody>
      </p:sp>
      <p:sp>
        <p:nvSpPr>
          <p:cNvPr id="106439900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6000" y="1389061"/>
            <a:ext cx="11348357" cy="47878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</a:lstStyle>
          <a:p>
            <a:pPr>
              <a:defRPr/>
            </a:pPr>
            <a:r>
              <a:rPr lang="en-GB" sz="24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Automated Foundations: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 Infrastructure as Code via Terraform for global services (Ingress, SSL, Monitoring).</a:t>
            </a: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defRPr/>
            </a:pP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defRPr/>
            </a:pPr>
            <a:r>
              <a:rPr lang="en-GB" sz="24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Environment Setup: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 Isolated namespaces and persistent databases for Dev &amp; Prod.</a:t>
            </a: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defRPr/>
            </a:pP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lnSpc>
                <a:spcPct val="114999"/>
              </a:lnSpc>
              <a:defRPr/>
            </a:pPr>
            <a:r>
              <a:rPr lang="en-GB" sz="24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GitOps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 (ArgoCD)</a:t>
            </a:r>
            <a:r>
              <a:rPr lang="en-GB" sz="24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 Bootstrap: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 Using the App-of-Apps pattern to trigger automatic synchronization of all services.</a:t>
            </a:r>
            <a:endParaRPr sz="24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</p:txBody>
      </p:sp>
      <p:sp>
        <p:nvSpPr>
          <p:cNvPr id="1393893493" name=""/>
          <p:cNvSpPr/>
          <p:nvPr/>
        </p:nvSpPr>
        <p:spPr bwMode="auto">
          <a:xfrm>
            <a:off x="7472800" y="4852587"/>
            <a:ext cx="4271555" cy="16691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  <a:t># 1. Global Cluster Services (Ingress, SSL, GitOps)</a:t>
            </a:r>
            <a:b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  <a:t>cd infra &amp;&amp; terraform init &amp;&amp; terraform apply</a:t>
            </a:r>
            <a:b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</a:br>
            <a:b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  <a:t># 2. Environment Setup (Namespaces, Databases, Secrets)</a:t>
            </a:r>
            <a:b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  <a:t>cd ../environments/dev  &amp;&amp; terraform apply</a:t>
            </a:r>
            <a:b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  <a:t>cd ../environments/prod &amp;&amp; terraform apply</a:t>
            </a:r>
            <a:b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</a:br>
            <a:b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  <a:t># 3. Trigger Application Sync</a:t>
            </a:r>
            <a:b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  <a:t>kubectl apply -f argocd/app-of-apps.yaml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3944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6000" y="365123"/>
            <a:ext cx="11348357" cy="865186"/>
          </a:xfrm>
        </p:spPr>
        <p:txBody>
          <a:bodyPr/>
          <a:lstStyle/>
          <a:p>
            <a:pPr>
              <a:defRPr/>
            </a:pPr>
            <a:r>
              <a:rPr lang="de-DE" sz="4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5. How to deploy dev &amp; prod</a:t>
            </a:r>
            <a:endParaRPr>
              <a:latin typeface="Nimbus Sans"/>
              <a:cs typeface="Nimbus Sans"/>
            </a:endParaRPr>
          </a:p>
        </p:txBody>
      </p:sp>
      <p:sp>
        <p:nvSpPr>
          <p:cNvPr id="158446093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6000" y="1389060"/>
            <a:ext cx="6848019" cy="520036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</a:lstStyle>
          <a:p>
            <a:pPr>
              <a:defRPr/>
            </a:pPr>
            <a:r>
              <a:rPr lang="en-GB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Environment Isolation: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 Strictly separated via Kubernetes Namespaces (dev &amp; prod).</a:t>
            </a:r>
            <a:endParaRPr sz="22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defRPr/>
            </a:pPr>
            <a:endParaRPr sz="22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defRPr/>
            </a:pPr>
            <a:r>
              <a:rPr lang="en-GB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Dev Workflow</a:t>
            </a:r>
            <a:r>
              <a:rPr lang="de-DE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 (</a:t>
            </a:r>
            <a:r>
              <a:rPr lang="de-DE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values-dev.yaml)</a:t>
            </a:r>
            <a:r>
              <a:rPr lang="en-GB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: 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Continuous Deployment triggered by every push to the develop branch.</a:t>
            </a:r>
            <a:endParaRPr sz="22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defRPr/>
            </a:pPr>
            <a:endParaRPr sz="22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defRPr/>
            </a:pPr>
            <a:r>
              <a:rPr lang="en-GB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Prod Workflow</a:t>
            </a:r>
            <a:r>
              <a:rPr lang="de-DE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 (</a:t>
            </a:r>
            <a:r>
              <a:rPr lang="de-DE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values-prod.yaml</a:t>
            </a:r>
            <a:r>
              <a:rPr lang="de-DE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)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: Continuous Delivery via Git Tags 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(e.g., v1.0.2)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 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and Manual Approval.</a:t>
            </a:r>
            <a:endParaRPr sz="22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 marL="0" indent="0">
              <a:buFont typeface="Arial"/>
              <a:buNone/>
              <a:defRPr/>
            </a:pPr>
            <a:endParaRPr lang="en-GB" sz="2200" b="0" i="0" u="none" strike="noStrike" cap="none" spc="0">
              <a:solidFill>
                <a:schemeClr val="tx1"/>
              </a:solidFill>
              <a:latin typeface="Nimbus Sans"/>
              <a:ea typeface="Nimbus Sans"/>
              <a:cs typeface="Nimbus Sans"/>
            </a:endParaRPr>
          </a:p>
          <a:p>
            <a:pPr>
              <a:defRPr/>
            </a:pPr>
            <a:r>
              <a:rPr lang="en-GB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Dynamic Config (FE</a:t>
            </a:r>
            <a:r>
              <a:rPr lang="de-DE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, Angular</a:t>
            </a:r>
            <a:r>
              <a:rPr lang="en-GB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):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 Runtime API-URL injection via ConfigMaps (No re-builds required).</a:t>
            </a:r>
            <a:endParaRPr sz="22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</p:txBody>
      </p:sp>
      <p:pic>
        <p:nvPicPr>
          <p:cNvPr id="1420469797" name=""/>
          <p:cNvPicPr>
            <a:picLocks noChangeAspect="1"/>
          </p:cNvPicPr>
          <p:nvPr/>
        </p:nvPicPr>
        <p:blipFill rotWithShape="1">
          <a:blip r:embed="rId3">
            <a:alphaModFix amt="99999"/>
          </a:blip>
          <a:stretch/>
        </p:blipFill>
        <p:spPr bwMode="auto">
          <a:xfrm flipH="0" flipV="0">
            <a:off x="7536107" y="2221848"/>
            <a:ext cx="4464728" cy="2712413"/>
          </a:xfrm>
          <a:prstGeom prst="rect">
            <a:avLst/>
          </a:prstGeom>
          <a:ln w="12700">
            <a:solidFill>
              <a:srgbClr val="000000">
                <a:alpha val="99999"/>
              </a:srgbClr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27640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6000" y="365122"/>
            <a:ext cx="11348357" cy="865185"/>
          </a:xfrm>
        </p:spPr>
        <p:txBody>
          <a:bodyPr/>
          <a:lstStyle/>
          <a:p>
            <a:pPr>
              <a:defRPr/>
            </a:pPr>
            <a:r>
              <a:rPr lang="de-DE" sz="4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5. How to deploy dev &amp; prod</a:t>
            </a:r>
            <a:endParaRPr>
              <a:latin typeface="Nimbus Sans"/>
              <a:cs typeface="Nimbus Sans"/>
            </a:endParaRPr>
          </a:p>
        </p:txBody>
      </p:sp>
      <p:sp>
        <p:nvSpPr>
          <p:cNvPr id="173558450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6000" y="1389060"/>
            <a:ext cx="6848019" cy="520036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</a:lstStyle>
          <a:p>
            <a:pPr>
              <a:defRPr/>
            </a:pPr>
            <a:r>
              <a:rPr lang="en-GB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Environment Isolation: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 Strictly separated via Kubernetes Namespaces (dev &amp; prod).</a:t>
            </a:r>
            <a:endParaRPr sz="22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defRPr/>
            </a:pPr>
            <a:endParaRPr sz="22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defRPr/>
            </a:pPr>
            <a:r>
              <a:rPr lang="en-GB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Dev Workflow</a:t>
            </a:r>
            <a:r>
              <a:rPr lang="de-DE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 (</a:t>
            </a:r>
            <a:r>
              <a:rPr lang="de-DE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values-dev.yaml)</a:t>
            </a:r>
            <a:r>
              <a:rPr lang="en-GB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: 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Continuous Deployment triggered by every push to the develop branch.</a:t>
            </a:r>
            <a:endParaRPr sz="22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defRPr/>
            </a:pPr>
            <a:endParaRPr sz="22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defRPr/>
            </a:pPr>
            <a:r>
              <a:rPr lang="en-GB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Prod Workflow</a:t>
            </a:r>
            <a:r>
              <a:rPr lang="de-DE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 (</a:t>
            </a:r>
            <a:r>
              <a:rPr lang="de-DE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values-prod.yaml</a:t>
            </a:r>
            <a:r>
              <a:rPr lang="de-DE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)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: Continuous Delivery via Git Tags 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(e.g., v1.0.2)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 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and Manual Approval.</a:t>
            </a:r>
            <a:endParaRPr sz="22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 marL="0" indent="0">
              <a:buFont typeface="Arial"/>
              <a:buNone/>
              <a:defRPr/>
            </a:pPr>
            <a:endParaRPr sz="2200" b="0" i="0" u="none" strike="noStrike" cap="none" spc="0">
              <a:solidFill>
                <a:schemeClr val="tx1"/>
              </a:solidFill>
              <a:latin typeface="Nimbus Sans"/>
              <a:ea typeface="Nimbus Sans"/>
              <a:cs typeface="Nimbus Sans"/>
            </a:endParaRPr>
          </a:p>
          <a:p>
            <a:pPr>
              <a:defRPr/>
            </a:pPr>
            <a:r>
              <a:rPr lang="en-GB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Dynamic Config (FE</a:t>
            </a:r>
            <a:r>
              <a:rPr lang="de-DE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, Angular</a:t>
            </a:r>
            <a:r>
              <a:rPr lang="en-GB" sz="2200" b="1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):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 Runtime API-URL injection via ConfigMaps (No re-builds required).</a:t>
            </a:r>
            <a:endParaRPr sz="2200" b="0" i="0" u="none" strike="noStrike" cap="none" spc="0">
              <a:solidFill>
                <a:schemeClr val="tx1"/>
              </a:solidFill>
              <a:latin typeface="Nimbus Sans"/>
              <a:cs typeface="Nimbus Sans"/>
            </a:endParaRPr>
          </a:p>
          <a:p>
            <a:pPr>
              <a:defRPr/>
            </a:pPr>
            <a:endParaRPr/>
          </a:p>
        </p:txBody>
      </p:sp>
      <p:sp>
        <p:nvSpPr>
          <p:cNvPr id="581121990" name=""/>
          <p:cNvSpPr txBox="1"/>
          <p:nvPr/>
        </p:nvSpPr>
        <p:spPr bwMode="auto">
          <a:xfrm rot="0" flipH="0" flipV="0">
            <a:off x="7527909" y="1389060"/>
            <a:ext cx="4727952" cy="43209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apiVersion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 </a:t>
            </a:r>
            <a:r>
              <a:rPr sz="1150" b="0" i="1" u="none">
                <a:solidFill>
                  <a:srgbClr val="871094"/>
                </a:solidFill>
                <a:latin typeface="Ubuntu Mono"/>
                <a:ea typeface="Ubuntu Mono"/>
                <a:cs typeface="Ubuntu Mono"/>
              </a:rPr>
              <a:t>v1</a:t>
            </a:r>
            <a:br>
              <a:rPr sz="1150" b="0" i="1" u="none">
                <a:solidFill>
                  <a:srgbClr val="871094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kind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 </a:t>
            </a:r>
            <a:r>
              <a:rPr sz="1150" b="0" i="1" u="none">
                <a:solidFill>
                  <a:srgbClr val="871094"/>
                </a:solidFill>
                <a:latin typeface="Ubuntu Mono"/>
                <a:ea typeface="Ubuntu Mono"/>
                <a:cs typeface="Ubuntu Mono"/>
              </a:rPr>
              <a:t>ConfigMap</a:t>
            </a:r>
            <a:br>
              <a:rPr sz="1150" b="0" i="1" u="none">
                <a:solidFill>
                  <a:srgbClr val="871094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metadata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</a:t>
            </a: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 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{{ </a:t>
            </a:r>
            <a:r>
              <a:rPr sz="1150" b="0" i="0" u="none">
                <a:solidFill>
                  <a:srgbClr val="000000"/>
                </a:solidFill>
                <a:latin typeface="Ubuntu Mono"/>
                <a:ea typeface="Ubuntu Mono"/>
                <a:cs typeface="Ubuntu Mono"/>
              </a:rPr>
              <a:t>include </a:t>
            </a:r>
            <a: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  <a:t>"frontend.fullname" 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. }}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-config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data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</a:t>
            </a: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env.js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 |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150" b="0" i="0" u="none">
                <a:solidFill>
                  <a:srgbClr val="830091"/>
                </a:solidFill>
                <a:latin typeface="Ubuntu Mono"/>
                <a:ea typeface="Ubuntu Mono"/>
                <a:cs typeface="Ubuntu Mono"/>
              </a:rPr>
              <a:t>window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150" b="0" i="0" u="none">
                <a:solidFill>
                  <a:srgbClr val="871094"/>
                </a:solidFill>
                <a:latin typeface="Ubuntu Mono"/>
                <a:ea typeface="Ubuntu Mono"/>
                <a:cs typeface="Ubuntu Mono"/>
              </a:rPr>
              <a:t>__env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= {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  REST_API_URL: "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{{ .</a:t>
            </a:r>
            <a:r>
              <a:rPr sz="1150" b="0" i="0" u="none">
                <a:solidFill>
                  <a:srgbClr val="000000"/>
                </a:solidFill>
                <a:latin typeface="Ubuntu Mono"/>
                <a:ea typeface="Ubuntu Mono"/>
                <a:cs typeface="Ubuntu Mono"/>
              </a:rPr>
              <a:t>Values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150" b="0" i="0" u="none">
                <a:solidFill>
                  <a:srgbClr val="000000"/>
                </a:solidFill>
                <a:latin typeface="Ubuntu Mono"/>
                <a:ea typeface="Ubuntu Mono"/>
                <a:cs typeface="Ubuntu Mono"/>
              </a:rPr>
              <a:t>env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150" b="0" i="0" u="none">
                <a:solidFill>
                  <a:srgbClr val="000000"/>
                </a:solidFill>
                <a:latin typeface="Ubuntu Mono"/>
                <a:ea typeface="Ubuntu Mono"/>
                <a:cs typeface="Ubuntu Mono"/>
              </a:rPr>
              <a:t>REST_API_URL 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}}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",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  ENV_NAME: "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{{ .</a:t>
            </a:r>
            <a:r>
              <a:rPr sz="1150" b="0" i="0" u="none">
                <a:solidFill>
                  <a:srgbClr val="000000"/>
                </a:solidFill>
                <a:latin typeface="Ubuntu Mono"/>
                <a:ea typeface="Ubuntu Mono"/>
                <a:cs typeface="Ubuntu Mono"/>
              </a:rPr>
              <a:t>Values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150" b="0" i="0" u="none">
                <a:solidFill>
                  <a:srgbClr val="000000"/>
                </a:solidFill>
                <a:latin typeface="Ubuntu Mono"/>
                <a:ea typeface="Ubuntu Mono"/>
                <a:cs typeface="Ubuntu Mono"/>
              </a:rPr>
              <a:t>env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150" b="0" i="0" u="none">
                <a:solidFill>
                  <a:srgbClr val="000000"/>
                </a:solidFill>
                <a:latin typeface="Ubuntu Mono"/>
                <a:ea typeface="Ubuntu Mono"/>
                <a:cs typeface="Ubuntu Mono"/>
              </a:rPr>
              <a:t>ENV_NAME 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}}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"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};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endParaRPr lang="de-DE"/>
          </a:p>
          <a:p>
            <a:pPr>
              <a:defRPr/>
            </a:pPr>
            <a:r>
              <a:rPr lang="de-DE">
                <a:solidFill>
                  <a:schemeClr val="bg1">
                    <a:lumMod val="50000"/>
                  </a:schemeClr>
                </a:solidFill>
              </a:rPr>
              <a:t># usage</a:t>
            </a:r>
            <a:r>
              <a:rPr lang="de-DE">
                <a:solidFill>
                  <a:schemeClr val="bg1">
                    <a:lumMod val="50000"/>
                  </a:schemeClr>
                </a:solidFill>
              </a:rPr>
              <a:t> in deployment.yaml</a:t>
            </a:r>
            <a:endParaRPr/>
          </a:p>
          <a:p>
            <a:pPr>
              <a:defRPr/>
            </a:pP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spec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</a:t>
            </a: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containers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  - </a:t>
            </a: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 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{{ .</a:t>
            </a:r>
            <a:r>
              <a:rPr sz="1150" b="0" i="0" u="none">
                <a:solidFill>
                  <a:srgbClr val="000000"/>
                </a:solidFill>
                <a:latin typeface="Ubuntu Mono"/>
                <a:ea typeface="Ubuntu Mono"/>
                <a:cs typeface="Ubuntu Mono"/>
              </a:rPr>
              <a:t>Chart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150" b="0" i="0" u="none">
                <a:solidFill>
                  <a:srgbClr val="000000"/>
                </a:solidFill>
                <a:latin typeface="Ubuntu Mono"/>
                <a:ea typeface="Ubuntu Mono"/>
                <a:cs typeface="Ubuntu Mono"/>
              </a:rPr>
              <a:t>Name 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}}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    </a:t>
            </a: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volumeMounts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      - </a:t>
            </a: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 frontend-config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        </a:t>
            </a: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mountPath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 /usr/share/nginx/html/assets/env.js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        </a:t>
            </a: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subPath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 env.js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</a:t>
            </a: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volumes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  - </a:t>
            </a: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 frontend-config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    </a:t>
            </a: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configMap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</a:t>
            </a:r>
            <a:b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</a:b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150" b="0" i="0" u="none">
                <a:solidFill>
                  <a:srgbClr val="0033B3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: 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{{ </a:t>
            </a:r>
            <a:r>
              <a:rPr sz="1150" b="0" i="0" u="none">
                <a:solidFill>
                  <a:srgbClr val="000000"/>
                </a:solidFill>
                <a:latin typeface="Ubuntu Mono"/>
                <a:ea typeface="Ubuntu Mono"/>
                <a:cs typeface="Ubuntu Mono"/>
              </a:rPr>
              <a:t>include </a:t>
            </a:r>
            <a:r>
              <a:rPr sz="1150" b="0" i="0" u="none">
                <a:solidFill>
                  <a:srgbClr val="067D17"/>
                </a:solidFill>
                <a:latin typeface="Ubuntu Mono"/>
                <a:ea typeface="Ubuntu Mono"/>
                <a:cs typeface="Ubuntu Mono"/>
              </a:rPr>
              <a:t>"frontend.fullname" 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. }}</a:t>
            </a:r>
            <a:r>
              <a:rPr sz="1150" b="0" i="0" u="none">
                <a:solidFill>
                  <a:srgbClr val="080808"/>
                </a:solidFill>
                <a:latin typeface="Ubuntu Mono"/>
                <a:ea typeface="Ubuntu Mono"/>
                <a:cs typeface="Ubuntu Mono"/>
              </a:rPr>
              <a:t>-config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90854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6000" y="365122"/>
            <a:ext cx="11348357" cy="865185"/>
          </a:xfrm>
        </p:spPr>
        <p:txBody>
          <a:bodyPr/>
          <a:lstStyle/>
          <a:p>
            <a:pPr>
              <a:defRPr/>
            </a:pPr>
            <a:r>
              <a:rPr lang="de-DE" sz="4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6. </a:t>
            </a:r>
            <a:r>
              <a:rPr lang="de-DE" sz="4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CI/CD Pipeline &amp; DevSecOps</a:t>
            </a:r>
            <a:endParaRPr>
              <a:latin typeface="Nimbus Sans"/>
              <a:cs typeface="Nimbus Sans"/>
            </a:endParaRPr>
          </a:p>
        </p:txBody>
      </p:sp>
      <p:pic>
        <p:nvPicPr>
          <p:cNvPr id="3123614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92915" y="1283224"/>
            <a:ext cx="11643392" cy="55061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4347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6000" y="365122"/>
            <a:ext cx="11348357" cy="865185"/>
          </a:xfrm>
        </p:spPr>
        <p:txBody>
          <a:bodyPr/>
          <a:lstStyle/>
          <a:p>
            <a:pPr>
              <a:defRPr/>
            </a:pPr>
            <a:r>
              <a:rPr lang="de-DE" sz="4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7. </a:t>
            </a:r>
            <a:r>
              <a:rPr lang="de-DE" sz="4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Resilience &amp; Disaster Recovery</a:t>
            </a:r>
            <a:endParaRPr>
              <a:latin typeface="Nimbus Sans"/>
              <a:cs typeface="Nimbus Sans"/>
            </a:endParaRPr>
          </a:p>
        </p:txBody>
      </p:sp>
      <p:sp>
        <p:nvSpPr>
          <p:cNvPr id="183987708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6000" y="1389060"/>
            <a:ext cx="11348357" cy="478789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</a:lstStyle>
          <a:p>
            <a:pPr>
              <a:defRPr/>
            </a:pPr>
            <a:r>
              <a:rPr lang="en-GB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Self-Healing: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Automatic container recovery via Liveness &amp; Readiness probes.</a:t>
            </a:r>
            <a:endParaRPr lang="en-GB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Database Backups: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Daily automated 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Ubuntu Mono"/>
                <a:ea typeface="Ubuntu Mono"/>
                <a:cs typeface="Ubuntu Mono"/>
              </a:rPr>
              <a:t>pg_dump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via Kubernetes CronJobs.</a:t>
            </a:r>
            <a:endParaRPr lang="en-GB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Infrastructure Recovery</a:t>
            </a:r>
            <a:r>
              <a:rPr lang="en-GB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Full reconstruction using the layered Terraform &amp;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GitOps approach.</a:t>
            </a:r>
            <a:endParaRPr lang="en-GB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GitOps Rollback: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Instant version reversal by 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adjusting helm values.yaml file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62258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6000" y="365122"/>
            <a:ext cx="11348357" cy="865185"/>
          </a:xfrm>
        </p:spPr>
        <p:txBody>
          <a:bodyPr/>
          <a:lstStyle/>
          <a:p>
            <a:pPr>
              <a:defRPr/>
            </a:pPr>
            <a:r>
              <a:rPr lang="de-DE" sz="4400" b="0" i="0" u="none" strike="noStrike" cap="none" spc="0">
                <a:solidFill>
                  <a:schemeClr val="tx1"/>
                </a:solidFill>
                <a:latin typeface="Nimbus Sans"/>
                <a:ea typeface="Nimbus Sans"/>
                <a:cs typeface="Nimbus Sans"/>
              </a:rPr>
              <a:t>Demo</a:t>
            </a:r>
            <a:endParaRPr>
              <a:latin typeface="Nimbus Sans"/>
              <a:cs typeface="Nimbus Sans"/>
            </a:endParaRPr>
          </a:p>
        </p:txBody>
      </p:sp>
      <p:sp>
        <p:nvSpPr>
          <p:cNvPr id="127400419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6000" y="1389060"/>
            <a:ext cx="11348357" cy="478789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</a:lstStyle>
          <a:p>
            <a:pPr>
              <a:defRPr/>
            </a:pPr>
            <a:r>
              <a:rPr lang="de-DE" sz="2400"/>
              <a:t>Pipeline in Action</a:t>
            </a:r>
            <a:endParaRPr sz="2400"/>
          </a:p>
          <a:p>
            <a:pPr lvl="1">
              <a:defRPr/>
            </a:pPr>
            <a:r>
              <a:rPr lang="de-DE" sz="2400"/>
              <a:t>Adjust FE text</a:t>
            </a:r>
            <a:endParaRPr sz="2400"/>
          </a:p>
          <a:p>
            <a:pPr lvl="1">
              <a:defRPr/>
            </a:pPr>
            <a:r>
              <a:rPr lang="de-DE" sz="2400"/>
              <a:t>Adjust BE logs</a:t>
            </a:r>
            <a:endParaRPr sz="2400"/>
          </a:p>
          <a:p>
            <a:pPr marL="457200" lvl="1" indent="0">
              <a:buFont typeface="Arial"/>
              <a:buNone/>
              <a:defRPr/>
            </a:pPr>
            <a:endParaRPr sz="2400"/>
          </a:p>
          <a:p>
            <a:pPr lvl="0"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After Deployment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Check ArgoCD UI</a:t>
            </a:r>
            <a:endParaRPr sz="2400"/>
          </a:p>
          <a:p>
            <a:pPr lvl="1">
              <a:defRPr/>
            </a:pPr>
            <a:r>
              <a:rPr lang="de-DE" sz="2400"/>
              <a:t>Check Grafana Logs for adjusted BE logs</a:t>
            </a:r>
            <a:endParaRPr sz="2400"/>
          </a:p>
          <a:p>
            <a:pPr lvl="0">
              <a:defRPr/>
            </a:pPr>
            <a:endParaRPr sz="2400"/>
          </a:p>
          <a:p>
            <a:pPr lvl="0"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Demonstrate Fault Tolerance &amp; Alerting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</cp:revision>
  <dcterms:modified xsi:type="dcterms:W3CDTF">2026-03-03T07:36:08Z</dcterms:modified>
</cp:coreProperties>
</file>