
<file path=[Content_Types].xml><?xml version="1.0" encoding="utf-8"?>
<Types xmlns="http://schemas.openxmlformats.org/package/2006/content-types">
  <Default Extension="xml" ContentType="application/xml"/>
  <Default Extension="svg" ContentType="image/svg+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12192000" cy="6858000"/>
  <p:notesSz cx="6858000" cy="9144000"/>
  <p:defaultTextStyle>
    <a:defPPr>
      <a:defRPr lang="en-GB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 /><Relationship Id="rId17" Type="http://schemas.openxmlformats.org/officeDocument/2006/relationships/tableStyles" Target="tableStyles.xml" /><Relationship Id="rId1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9097460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376336800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GB"/>
              <a:t>10/30/2013</a:t>
            </a:fld>
            <a:endParaRPr lang="en-GB"/>
          </a:p>
        </p:txBody>
      </p:sp>
      <p:sp>
        <p:nvSpPr>
          <p:cNvPr id="647884500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GB"/>
          </a:p>
        </p:txBody>
      </p:sp>
      <p:sp>
        <p:nvSpPr>
          <p:cNvPr id="1310484863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 lang="en-GB"/>
          </a:p>
        </p:txBody>
      </p:sp>
      <p:sp>
        <p:nvSpPr>
          <p:cNvPr id="293172743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267361707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GB"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55750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116515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GB">
                <a:latin typeface="Arial"/>
                <a:cs typeface="Arial"/>
              </a:rPr>
              <a:t>test</a:t>
            </a:r>
            <a:endParaRPr lang="en-GB">
              <a:latin typeface="Arial"/>
              <a:cs typeface="Arial"/>
            </a:endParaRPr>
          </a:p>
        </p:txBody>
      </p:sp>
      <p:sp>
        <p:nvSpPr>
          <p:cNvPr id="9394157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GB"/>
              <a:t>1</a:t>
            </a:fld>
            <a:endParaRPr lang="en-GB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232745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23713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29733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27E4213-74E5-DEF1-2ABA-2E950A2C55B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009110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915445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40649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0177EA-ACEA-F4F8-49E0-A7D0DBAC1F2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053451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881115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99385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6F0A82-43BE-0F16-161B-4033A12C274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228205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156453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83422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6AC2726-9540-70F1-5044-4BE2F42F8DC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464928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133050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32483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663FAC3-0590-13D3-70A7-4DE651218AD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964181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063009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5201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C4C24C-060C-2C34-42B7-494051AFC1A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348637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682567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26664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23A2333-0FF5-0E02-516F-B6F424CDA82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702813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141555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2814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7A956E-75CD-C519-E470-5D664D21D7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465940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464018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22315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CCA250-3E2F-ED8E-853B-B2835261978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904254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134767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44587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0A4C76-5D87-787B-AA05-BDBFC303C40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4605650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GB"/>
              <a:t>Click to edit Master title style</a:t>
            </a:r>
            <a:endParaRPr lang="en-GB"/>
          </a:p>
        </p:txBody>
      </p:sp>
      <p:sp>
        <p:nvSpPr>
          <p:cNvPr id="700573282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GB"/>
              <a:t>Click to edit Master subtitle style</a:t>
            </a:r>
            <a:endParaRPr lang="en-GB"/>
          </a:p>
        </p:txBody>
      </p:sp>
      <p:sp>
        <p:nvSpPr>
          <p:cNvPr id="180600388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GB"/>
              <a:t>30.10.2013</a:t>
            </a:fld>
            <a:endParaRPr lang="en-GB"/>
          </a:p>
        </p:txBody>
      </p:sp>
      <p:sp>
        <p:nvSpPr>
          <p:cNvPr id="206752516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92736231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276745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396000" y="365123"/>
            <a:ext cx="11348357" cy="865186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en-GB"/>
              <a:t>Click to edit Master title style</a:t>
            </a:r>
            <a:endParaRPr lang="en-GB"/>
          </a:p>
        </p:txBody>
      </p:sp>
      <p:sp>
        <p:nvSpPr>
          <p:cNvPr id="770486990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96000" y="1389061"/>
            <a:ext cx="11348357" cy="478789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</a:lstStyle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marL="1371600" lvl="3" indent="0">
              <a:buFont typeface="Arial"/>
              <a:buNone/>
              <a:defRPr/>
            </a:pPr>
            <a:endParaRPr/>
          </a:p>
          <a:p>
            <a:pPr lvl="4">
              <a:defRPr/>
            </a:pPr>
            <a:endParaRPr lang="en-GB"/>
          </a:p>
        </p:txBody>
      </p:sp>
      <p:sp>
        <p:nvSpPr>
          <p:cNvPr id="96621252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GB"/>
              <a:t>30.10.2013</a:t>
            </a:fld>
            <a:endParaRPr lang="en-GB"/>
          </a:p>
        </p:txBody>
      </p:sp>
      <p:sp>
        <p:nvSpPr>
          <p:cNvPr id="198276365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7689705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520785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GB"/>
              <a:t>Click to edit Master title style</a:t>
            </a:r>
            <a:endParaRPr lang="en-GB"/>
          </a:p>
        </p:txBody>
      </p:sp>
      <p:sp>
        <p:nvSpPr>
          <p:cNvPr id="8128859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GB"/>
              <a:t>Click to edit Master text styles</a:t>
            </a:r>
            <a:endParaRPr/>
          </a:p>
        </p:txBody>
      </p:sp>
      <p:sp>
        <p:nvSpPr>
          <p:cNvPr id="152758675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GB"/>
              <a:t>30.10.2013</a:t>
            </a:fld>
            <a:endParaRPr lang="en-GB"/>
          </a:p>
        </p:txBody>
      </p:sp>
      <p:sp>
        <p:nvSpPr>
          <p:cNvPr id="185955529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64363168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095418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Click to edit Master title style</a:t>
            </a:r>
            <a:endParaRPr lang="en-GB"/>
          </a:p>
        </p:txBody>
      </p:sp>
      <p:sp>
        <p:nvSpPr>
          <p:cNvPr id="176414994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 lang="en-GB"/>
          </a:p>
        </p:txBody>
      </p:sp>
      <p:sp>
        <p:nvSpPr>
          <p:cNvPr id="19843020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 lang="en-GB"/>
          </a:p>
        </p:txBody>
      </p:sp>
      <p:sp>
        <p:nvSpPr>
          <p:cNvPr id="6614828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GB"/>
              <a:t>30.10.2013</a:t>
            </a:fld>
            <a:endParaRPr lang="en-GB"/>
          </a:p>
        </p:txBody>
      </p:sp>
      <p:sp>
        <p:nvSpPr>
          <p:cNvPr id="98949544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30467839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2392036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GB"/>
              <a:t>Click to edit Master title style</a:t>
            </a:r>
            <a:endParaRPr lang="en-GB"/>
          </a:p>
        </p:txBody>
      </p:sp>
      <p:sp>
        <p:nvSpPr>
          <p:cNvPr id="119152425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GB"/>
              <a:t>Click to edit Master text styles</a:t>
            </a:r>
            <a:endParaRPr/>
          </a:p>
        </p:txBody>
      </p:sp>
      <p:sp>
        <p:nvSpPr>
          <p:cNvPr id="94139107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 lang="en-GB"/>
          </a:p>
        </p:txBody>
      </p:sp>
      <p:sp>
        <p:nvSpPr>
          <p:cNvPr id="95466041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GB"/>
              <a:t>Click to edit Master text styles</a:t>
            </a:r>
            <a:endParaRPr/>
          </a:p>
        </p:txBody>
      </p:sp>
      <p:sp>
        <p:nvSpPr>
          <p:cNvPr id="1757508084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 lang="en-GB"/>
          </a:p>
        </p:txBody>
      </p:sp>
      <p:sp>
        <p:nvSpPr>
          <p:cNvPr id="487613035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GB"/>
              <a:t>30.10.2013</a:t>
            </a:fld>
            <a:endParaRPr lang="en-GB"/>
          </a:p>
        </p:txBody>
      </p:sp>
      <p:sp>
        <p:nvSpPr>
          <p:cNvPr id="1885066501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140914704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669990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Click to edit Master title style</a:t>
            </a:r>
            <a:endParaRPr lang="en-GB"/>
          </a:p>
        </p:txBody>
      </p:sp>
      <p:sp>
        <p:nvSpPr>
          <p:cNvPr id="59149267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GB"/>
              <a:t>30.10.2013</a:t>
            </a:fld>
            <a:endParaRPr lang="en-GB"/>
          </a:p>
        </p:txBody>
      </p:sp>
      <p:sp>
        <p:nvSpPr>
          <p:cNvPr id="1258647339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103993534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5628032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GB"/>
              <a:t>30.10.2013</a:t>
            </a:fld>
            <a:endParaRPr lang="en-GB"/>
          </a:p>
        </p:txBody>
      </p:sp>
      <p:sp>
        <p:nvSpPr>
          <p:cNvPr id="1265373995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814311182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2180589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GB"/>
              <a:t>Click to edit Master title style</a:t>
            </a:r>
            <a:endParaRPr lang="en-GB"/>
          </a:p>
        </p:txBody>
      </p:sp>
      <p:sp>
        <p:nvSpPr>
          <p:cNvPr id="322373734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 lang="en-GB"/>
          </a:p>
        </p:txBody>
      </p:sp>
      <p:sp>
        <p:nvSpPr>
          <p:cNvPr id="95098640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GB"/>
              <a:t>Click to edit Master text styles</a:t>
            </a:r>
            <a:endParaRPr/>
          </a:p>
        </p:txBody>
      </p:sp>
      <p:sp>
        <p:nvSpPr>
          <p:cNvPr id="29679428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GB"/>
              <a:t>30.10.2013</a:t>
            </a:fld>
            <a:endParaRPr lang="en-GB"/>
          </a:p>
        </p:txBody>
      </p:sp>
      <p:sp>
        <p:nvSpPr>
          <p:cNvPr id="180925649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8588296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1349175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GB"/>
              <a:t>Click to edit Master title style</a:t>
            </a:r>
            <a:endParaRPr lang="en-GB"/>
          </a:p>
        </p:txBody>
      </p:sp>
      <p:sp>
        <p:nvSpPr>
          <p:cNvPr id="1185834080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GB"/>
              <a:t>Click icon to add picture</a:t>
            </a:r>
            <a:endParaRPr lang="en-GB"/>
          </a:p>
        </p:txBody>
      </p:sp>
      <p:sp>
        <p:nvSpPr>
          <p:cNvPr id="1453421579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GB"/>
              <a:t>Click to edit Master text styles</a:t>
            </a:r>
            <a:endParaRPr/>
          </a:p>
        </p:txBody>
      </p:sp>
      <p:sp>
        <p:nvSpPr>
          <p:cNvPr id="167564215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GB"/>
              <a:t>30.10.2013</a:t>
            </a:fld>
            <a:endParaRPr lang="en-GB"/>
          </a:p>
        </p:txBody>
      </p:sp>
      <p:sp>
        <p:nvSpPr>
          <p:cNvPr id="47706312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34448372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853069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Click to edit Master title style</a:t>
            </a:r>
            <a:endParaRPr lang="en-GB"/>
          </a:p>
        </p:txBody>
      </p:sp>
      <p:sp>
        <p:nvSpPr>
          <p:cNvPr id="489012621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 lang="en-GB"/>
          </a:p>
        </p:txBody>
      </p:sp>
      <p:sp>
        <p:nvSpPr>
          <p:cNvPr id="100818421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GB"/>
              <a:t>30.10.2013</a:t>
            </a:fld>
            <a:endParaRPr lang="en-GB"/>
          </a:p>
        </p:txBody>
      </p:sp>
      <p:sp>
        <p:nvSpPr>
          <p:cNvPr id="148976207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5035158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4372151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GB"/>
              <a:t>Click to edit Master title style</a:t>
            </a:r>
            <a:endParaRPr lang="en-GB"/>
          </a:p>
        </p:txBody>
      </p:sp>
      <p:sp>
        <p:nvSpPr>
          <p:cNvPr id="1340522479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 lang="en-GB"/>
          </a:p>
        </p:txBody>
      </p:sp>
      <p:sp>
        <p:nvSpPr>
          <p:cNvPr id="203439847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GB"/>
              <a:t>30.10.2013</a:t>
            </a:fld>
            <a:endParaRPr lang="en-GB"/>
          </a:p>
        </p:txBody>
      </p:sp>
      <p:sp>
        <p:nvSpPr>
          <p:cNvPr id="137725283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79264587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chemeClr val="bg1">
            <a:alpha val="99999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4290520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GB"/>
              <a:t>Click to edit Master title style</a:t>
            </a:r>
            <a:endParaRPr lang="en-GB"/>
          </a:p>
        </p:txBody>
      </p:sp>
      <p:sp>
        <p:nvSpPr>
          <p:cNvPr id="161878932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 lang="en-GB"/>
          </a:p>
        </p:txBody>
      </p:sp>
      <p:sp>
        <p:nvSpPr>
          <p:cNvPr id="1426913988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GB"/>
              <a:t>30.10.2013</a:t>
            </a:fld>
            <a:endParaRPr lang="en-GB"/>
          </a:p>
        </p:txBody>
      </p:sp>
      <p:sp>
        <p:nvSpPr>
          <p:cNvPr id="612557675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1830310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GB"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media1.svg"/><Relationship Id="rId5" Type="http://schemas.openxmlformats.org/officeDocument/2006/relationships/image" Target="../media/image4.png"/><Relationship Id="rId6" Type="http://schemas.openxmlformats.org/officeDocument/2006/relationships/image" Target="../media/media2.svg"/><Relationship Id="rId7" Type="http://schemas.openxmlformats.org/officeDocument/2006/relationships/image" Target="../media/image5.png"/><Relationship Id="rId8" Type="http://schemas.openxmlformats.org/officeDocument/2006/relationships/image" Target="../media/media3.svg"/><Relationship Id="rId9" Type="http://schemas.openxmlformats.org/officeDocument/2006/relationships/image" Target="../media/image6.png"/><Relationship Id="rId10" Type="http://schemas.openxmlformats.org/officeDocument/2006/relationships/image" Target="../media/image7.png"/><Relationship Id="rId11" Type="http://schemas.openxmlformats.org/officeDocument/2006/relationships/image" Target="../media/image8.png"/><Relationship Id="rId12" Type="http://schemas.openxmlformats.org/officeDocument/2006/relationships/image" Target="../media/media4.svg"/><Relationship Id="rId13" Type="http://schemas.openxmlformats.org/officeDocument/2006/relationships/image" Target="../media/image9.png"/><Relationship Id="rId14" Type="http://schemas.openxmlformats.org/officeDocument/2006/relationships/image" Target="../media/media5.svg"/><Relationship Id="rId15" Type="http://schemas.openxmlformats.org/officeDocument/2006/relationships/image" Target="../media/image10.png"/><Relationship Id="rId16" Type="http://schemas.openxmlformats.org/officeDocument/2006/relationships/image" Target="../media/image11.png"/><Relationship Id="rId17" Type="http://schemas.openxmlformats.org/officeDocument/2006/relationships/image" Target="../media/media6.svg"/><Relationship Id="rId18" Type="http://schemas.openxmlformats.org/officeDocument/2006/relationships/image" Target="../media/image12.png"/><Relationship Id="rId19" Type="http://schemas.openxmlformats.org/officeDocument/2006/relationships/image" Target="../media/image13.png"/><Relationship Id="rId20" Type="http://schemas.openxmlformats.org/officeDocument/2006/relationships/image" Target="../media/media7.svg"/><Relationship Id="rId21" Type="http://schemas.openxmlformats.org/officeDocument/2006/relationships/image" Target="../media/image14.png"/><Relationship Id="rId22" Type="http://schemas.openxmlformats.org/officeDocument/2006/relationships/image" Target="../media/media8.svg"/><Relationship Id="rId23" Type="http://schemas.openxmlformats.org/officeDocument/2006/relationships/image" Target="../media/image15.png"/><Relationship Id="rId24" Type="http://schemas.openxmlformats.org/officeDocument/2006/relationships/image" Target="../media/image16.png"/><Relationship Id="rId25" Type="http://schemas.openxmlformats.org/officeDocument/2006/relationships/image" Target="../media/media9.svg"/><Relationship Id="rId26" Type="http://schemas.openxmlformats.org/officeDocument/2006/relationships/image" Target="../media/image17.png"/><Relationship Id="rId27" Type="http://schemas.openxmlformats.org/officeDocument/2006/relationships/image" Target="../media/image18.png"/><Relationship Id="rId28" Type="http://schemas.openxmlformats.org/officeDocument/2006/relationships/image" Target="../media/media10.svg"/><Relationship Id="rId29" Type="http://schemas.openxmlformats.org/officeDocument/2006/relationships/image" Target="../media/image19.png"/><Relationship Id="rId30" Type="http://schemas.openxmlformats.org/officeDocument/2006/relationships/image" Target="../media/media11.svg"/><Relationship Id="rId31" Type="http://schemas.openxmlformats.org/officeDocument/2006/relationships/image" Target="../media/image20.png"/><Relationship Id="rId32" Type="http://schemas.openxmlformats.org/officeDocument/2006/relationships/image" Target="../media/image21.png"/><Relationship Id="rId33" Type="http://schemas.openxmlformats.org/officeDocument/2006/relationships/image" Target="../media/media12.svg"/><Relationship Id="rId34" Type="http://schemas.openxmlformats.org/officeDocument/2006/relationships/image" Target="../media/image22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3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4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848534" name="Title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 sz="6000" b="0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Final Project</a:t>
            </a:r>
            <a:r>
              <a:rPr lang="en-GB">
                <a:latin typeface="Nimbus Sans"/>
                <a:ea typeface="Nimbus Sans"/>
                <a:cs typeface="Nimbus Sans"/>
              </a:rPr>
              <a:t> Presentation</a:t>
            </a:r>
            <a:endParaRPr>
              <a:latin typeface="Nimbus Sans"/>
              <a:cs typeface="Nimbus Sans"/>
            </a:endParaRPr>
          </a:p>
        </p:txBody>
      </p:sp>
      <p:sp>
        <p:nvSpPr>
          <p:cNvPr id="201125502" name="Subtitle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by Baris Top </a:t>
            </a:r>
            <a:endParaRPr lang="en-GB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82778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Contents</a:t>
            </a:r>
            <a:endParaRPr>
              <a:latin typeface="Nimbus Sans"/>
              <a:cs typeface="Nimbus Sans"/>
            </a:endParaRPr>
          </a:p>
        </p:txBody>
      </p:sp>
      <p:sp>
        <p:nvSpPr>
          <p:cNvPr id="1236963685" name="Content Placehold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383008" indent="-383008">
              <a:buFont typeface="Arial"/>
              <a:buAutoNum type="arabicPeriod"/>
              <a:defRPr/>
            </a:pPr>
            <a:r>
              <a:rPr lang="en-GB" sz="2800" b="0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Overview of the App</a:t>
            </a:r>
            <a:endParaRPr sz="2800" b="0" i="0" u="none" strike="noStrike" cap="none" spc="0">
              <a:solidFill>
                <a:schemeClr val="tx1"/>
              </a:solidFill>
              <a:latin typeface="Nimbus Sans"/>
              <a:cs typeface="Nimbus Sans"/>
            </a:endParaRPr>
          </a:p>
          <a:p>
            <a:pPr marL="383008" indent="-383008">
              <a:buFont typeface="Arial"/>
              <a:buAutoNum type="arabicPeriod"/>
              <a:defRPr/>
            </a:pPr>
            <a:r>
              <a:rPr lang="en-GB" sz="2800" b="0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Architecture Diagram</a:t>
            </a:r>
            <a:endParaRPr sz="2800" b="0" i="0" u="none" strike="noStrike" cap="none" spc="0">
              <a:solidFill>
                <a:schemeClr val="tx1"/>
              </a:solidFill>
              <a:latin typeface="Nimbus Sans"/>
              <a:cs typeface="Nimbus Sans"/>
            </a:endParaRPr>
          </a:p>
          <a:p>
            <a:pPr marL="383008" indent="-383008">
              <a:buFont typeface="Arial"/>
              <a:buAutoNum type="arabicPeriod"/>
              <a:defRPr/>
            </a:pPr>
            <a:r>
              <a:rPr lang="en-GB" sz="2800" b="0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Tech Stack</a:t>
            </a:r>
            <a:endParaRPr sz="2800" b="0" i="0" u="none" strike="noStrike" cap="none" spc="0">
              <a:solidFill>
                <a:schemeClr val="tx1"/>
              </a:solidFill>
              <a:latin typeface="Nimbus Sans"/>
              <a:cs typeface="Nimbus Sans"/>
            </a:endParaRPr>
          </a:p>
          <a:p>
            <a:pPr marL="383008" indent="-383008">
              <a:buFont typeface="Arial"/>
              <a:buAutoNum type="arabicPeriod"/>
              <a:defRPr/>
            </a:pPr>
            <a:r>
              <a:rPr lang="en-GB" sz="2700" b="0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Infrastructure Provisioning</a:t>
            </a:r>
            <a:endParaRPr sz="2800" b="0" i="0" u="none" strike="noStrike" cap="none" spc="0">
              <a:solidFill>
                <a:schemeClr val="tx1"/>
              </a:solidFill>
              <a:latin typeface="Nimbus Sans"/>
              <a:cs typeface="Nimbus Sans"/>
            </a:endParaRPr>
          </a:p>
          <a:p>
            <a:pPr marL="383008" indent="-383008">
              <a:buFont typeface="Arial"/>
              <a:buAutoNum type="arabicPeriod"/>
              <a:defRPr/>
            </a:pPr>
            <a:r>
              <a:rPr lang="en-GB" sz="2800" b="0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How to deploy dev &amp; prod</a:t>
            </a:r>
            <a:endParaRPr sz="2800" b="0" i="0" u="none" strike="noStrike" cap="none" spc="0">
              <a:solidFill>
                <a:schemeClr val="tx1"/>
              </a:solidFill>
              <a:latin typeface="Nimbus Sans"/>
              <a:cs typeface="Nimbus Sans"/>
            </a:endParaRPr>
          </a:p>
          <a:p>
            <a:pPr marL="383008" indent="-383008">
              <a:buFont typeface="Arial"/>
              <a:buAutoNum type="arabicPeriod"/>
              <a:defRPr/>
            </a:pPr>
            <a:r>
              <a:rPr lang="en-GB" sz="2800" b="0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CI/CD Pipeline &amp; DevSecOps</a:t>
            </a:r>
            <a:endParaRPr sz="2800" b="0" i="0" u="none" strike="noStrike" cap="none" spc="0">
              <a:solidFill>
                <a:schemeClr val="tx1"/>
              </a:solidFill>
              <a:latin typeface="Nimbus Sans"/>
              <a:cs typeface="Nimbus Sans"/>
            </a:endParaRPr>
          </a:p>
          <a:p>
            <a:pPr marL="383008" indent="-383008">
              <a:buFont typeface="Arial"/>
              <a:buAutoNum type="arabicPeriod"/>
              <a:defRPr/>
            </a:pPr>
            <a:r>
              <a:rPr lang="en-GB" sz="2800" b="0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Resilience &amp; Disaster Recovery</a:t>
            </a:r>
            <a:endParaRPr sz="2800" b="0" i="0" u="none" strike="noStrike" cap="none" spc="0">
              <a:solidFill>
                <a:schemeClr val="tx1"/>
              </a:solidFill>
              <a:latin typeface="Nimbus Sans"/>
              <a:cs typeface="Nimbus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3993890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396000" y="365123"/>
            <a:ext cx="11348357" cy="865186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1. Overview of the App</a:t>
            </a:r>
            <a:endParaRPr>
              <a:latin typeface="Nimbus Sans"/>
              <a:cs typeface="Nimbus Sans"/>
            </a:endParaRPr>
          </a:p>
        </p:txBody>
      </p:sp>
      <p:sp>
        <p:nvSpPr>
          <p:cNvPr id="1351213136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96000" y="1389061"/>
            <a:ext cx="11348357" cy="478789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</a:lstStyle>
          <a:p>
            <a:pPr>
              <a:lnSpc>
                <a:spcPct val="114999"/>
              </a:lnSpc>
              <a:defRPr/>
            </a:pPr>
            <a:r>
              <a:rPr lang="en-GB" sz="2400" b="1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Foundation</a:t>
            </a:r>
            <a:r>
              <a:rPr lang="en-GB" sz="2400" b="0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: Utilizing the Spring Petclinic as a baseline</a:t>
            </a:r>
            <a:r>
              <a:rPr lang="de-DE" sz="2400" b="0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.</a:t>
            </a:r>
            <a:endParaRPr sz="2400" b="0" i="0" u="none" strike="noStrike" cap="none" spc="0">
              <a:solidFill>
                <a:schemeClr val="tx1"/>
              </a:solidFill>
              <a:latin typeface="Nimbus Sans"/>
              <a:cs typeface="Nimbus Sans"/>
            </a:endParaRPr>
          </a:p>
          <a:p>
            <a:pPr>
              <a:lnSpc>
                <a:spcPct val="114999"/>
              </a:lnSpc>
              <a:defRPr/>
            </a:pPr>
            <a:r>
              <a:rPr lang="en-GB" sz="2400" b="1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Core Components</a:t>
            </a:r>
            <a:r>
              <a:rPr lang="en-GB" sz="2400" b="0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: Separation of Angular Frontend, Spring Boot REST API, and a persistent PostgreSQL Database.</a:t>
            </a:r>
            <a:endParaRPr sz="2400" b="0" i="0" u="none" strike="noStrike" cap="none" spc="0">
              <a:solidFill>
                <a:schemeClr val="tx1"/>
              </a:solidFill>
              <a:latin typeface="Nimbus Sans"/>
              <a:cs typeface="Nimbus Sans"/>
            </a:endParaRPr>
          </a:p>
          <a:p>
            <a:pPr>
              <a:lnSpc>
                <a:spcPct val="114999"/>
              </a:lnSpc>
              <a:defRPr/>
            </a:pPr>
            <a:r>
              <a:rPr lang="en-GB" sz="2400" b="1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Key Objectives</a:t>
            </a:r>
            <a:r>
              <a:rPr lang="en-GB" sz="2400" b="0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: Operational efficiency, independent scalability, and full automation via CI/CD pipelines.</a:t>
            </a:r>
            <a:endParaRPr sz="2400" b="0" i="0" u="none" strike="noStrike" cap="none" spc="0">
              <a:solidFill>
                <a:schemeClr val="tx1"/>
              </a:solidFill>
              <a:latin typeface="Nimbus Sans"/>
              <a:cs typeface="Nimbus Sans"/>
            </a:endParaRPr>
          </a:p>
          <a:p>
            <a:pPr>
              <a:lnSpc>
                <a:spcPct val="114999"/>
              </a:lnSpc>
              <a:defRPr/>
            </a:pPr>
            <a:r>
              <a:rPr lang="en-GB" sz="2400" b="1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Project Management</a:t>
            </a:r>
            <a:r>
              <a:rPr lang="en-GB" sz="2400" b="0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: Managed with </a:t>
            </a:r>
            <a:br>
              <a:rPr lang="en-GB" sz="2400" b="0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</a:br>
            <a:r>
              <a:rPr lang="en-GB" sz="2400" b="0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Agile/Kanban methodology using </a:t>
            </a:r>
            <a:br>
              <a:rPr lang="en-GB" sz="2400" b="0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</a:br>
            <a:r>
              <a:rPr lang="en-GB" sz="2400" b="0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GitHub Issues and Project Boards.</a:t>
            </a:r>
            <a:endParaRPr sz="2400" b="0" i="0" u="none" strike="noStrike" cap="none" spc="0">
              <a:solidFill>
                <a:schemeClr val="tx1"/>
              </a:solidFill>
              <a:latin typeface="Nimbus Sans"/>
              <a:cs typeface="Nimbus Sans"/>
            </a:endParaRPr>
          </a:p>
        </p:txBody>
      </p:sp>
      <p:pic>
        <p:nvPicPr>
          <p:cNvPr id="835260706" name="Picture 1768224297"/>
          <p:cNvPicPr>
            <a:picLocks noChangeAspect="1"/>
          </p:cNvPicPr>
          <p:nvPr/>
        </p:nvPicPr>
        <p:blipFill rotWithShape="1">
          <a:blip r:embed="rId3">
            <a:alphaModFix amt="99999"/>
          </a:blip>
          <a:stretch/>
        </p:blipFill>
        <p:spPr bwMode="auto">
          <a:xfrm rot="0" flipH="0" flipV="0">
            <a:off x="6251649" y="3891642"/>
            <a:ext cx="5288600" cy="269275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2313547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396000" y="365123"/>
            <a:ext cx="11348357" cy="865186"/>
          </a:xfrm>
        </p:spPr>
        <p:txBody>
          <a:bodyPr/>
          <a:lstStyle/>
          <a:p>
            <a:pPr>
              <a:defRPr/>
            </a:pPr>
            <a:r>
              <a:rPr lang="de-DE">
                <a:latin typeface="Nimbus Sans"/>
                <a:ea typeface="Nimbus Sans"/>
                <a:cs typeface="Nimbus Sans"/>
              </a:rPr>
              <a:t>2. </a:t>
            </a:r>
            <a:r>
              <a:rPr lang="en-GB" sz="4400" b="0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Architecture Diagram</a:t>
            </a:r>
            <a:endParaRPr>
              <a:latin typeface="Nimbus Sans"/>
              <a:cs typeface="Nimbus Sans"/>
            </a:endParaRPr>
          </a:p>
        </p:txBody>
      </p:sp>
      <p:pic>
        <p:nvPicPr>
          <p:cNvPr id="553329486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396000" y="1336142"/>
            <a:ext cx="10154241" cy="535821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7378405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396000" y="365123"/>
            <a:ext cx="11348357" cy="865186"/>
          </a:xfrm>
        </p:spPr>
        <p:txBody>
          <a:bodyPr/>
          <a:lstStyle/>
          <a:p>
            <a:pPr>
              <a:defRPr/>
            </a:pPr>
            <a:r>
              <a:rPr lang="de-DE" sz="4400" b="0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3</a:t>
            </a:r>
            <a:r>
              <a:rPr lang="en-GB" sz="4400" b="0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. </a:t>
            </a:r>
            <a:r>
              <a:rPr lang="de-DE" sz="4400" b="0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Tech Stack</a:t>
            </a:r>
            <a:endParaRPr>
              <a:latin typeface="Nimbus Sans"/>
              <a:cs typeface="Nimbus Sans"/>
            </a:endParaRPr>
          </a:p>
        </p:txBody>
      </p:sp>
      <p:sp>
        <p:nvSpPr>
          <p:cNvPr id="2043573913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96000" y="1389061"/>
            <a:ext cx="11348357" cy="4643437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</a:lstStyle>
          <a:p>
            <a:pPr>
              <a:lnSpc>
                <a:spcPct val="114999"/>
              </a:lnSpc>
              <a:defRPr/>
            </a:pPr>
            <a:r>
              <a:rPr lang="en-GB" sz="2400" b="0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Application &amp; Persistence</a:t>
            </a:r>
            <a:r>
              <a:rPr lang="de-DE" sz="2400" b="0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: </a:t>
            </a:r>
            <a:endParaRPr sz="2400" b="0" i="0" u="none" strike="noStrike" cap="none" spc="0">
              <a:solidFill>
                <a:schemeClr val="tx1"/>
              </a:solidFill>
              <a:latin typeface="Nimbus Sans"/>
              <a:cs typeface="Nimbus Sans"/>
            </a:endParaRPr>
          </a:p>
          <a:p>
            <a:pPr>
              <a:lnSpc>
                <a:spcPct val="114999"/>
              </a:lnSpc>
              <a:defRPr/>
            </a:pPr>
            <a:endParaRPr sz="2400" b="0" i="0" u="none" strike="noStrike" cap="none" spc="0">
              <a:solidFill>
                <a:schemeClr val="tx1"/>
              </a:solidFill>
              <a:latin typeface="Nimbus Sans"/>
              <a:cs typeface="Nimbus Sans"/>
            </a:endParaRPr>
          </a:p>
          <a:p>
            <a:pPr>
              <a:lnSpc>
                <a:spcPct val="114999"/>
              </a:lnSpc>
              <a:defRPr/>
            </a:pPr>
            <a:r>
              <a:rPr lang="en-GB" sz="2400" b="0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Infrastructure &amp; IaC: </a:t>
            </a:r>
            <a:endParaRPr sz="2400" b="0" i="0" u="none" strike="noStrike" cap="none" spc="0">
              <a:solidFill>
                <a:schemeClr val="tx1"/>
              </a:solidFill>
              <a:latin typeface="Nimbus Sans"/>
              <a:cs typeface="Nimbus Sans"/>
            </a:endParaRPr>
          </a:p>
          <a:p>
            <a:pPr>
              <a:lnSpc>
                <a:spcPct val="114999"/>
              </a:lnSpc>
              <a:defRPr/>
            </a:pPr>
            <a:endParaRPr sz="2400" b="0" i="0" u="none" strike="noStrike" cap="none" spc="0">
              <a:solidFill>
                <a:schemeClr val="tx1"/>
              </a:solidFill>
              <a:latin typeface="Nimbus Sans"/>
              <a:cs typeface="Nimbus Sans"/>
            </a:endParaRPr>
          </a:p>
          <a:p>
            <a:pPr>
              <a:lnSpc>
                <a:spcPct val="114999"/>
              </a:lnSpc>
              <a:defRPr/>
            </a:pPr>
            <a:r>
              <a:rPr lang="en-GB" sz="2400" b="0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Deployment &amp; GitOps: </a:t>
            </a:r>
            <a:endParaRPr sz="2400" b="0" i="0" u="none" strike="noStrike" cap="none" spc="0">
              <a:solidFill>
                <a:schemeClr val="tx1"/>
              </a:solidFill>
              <a:latin typeface="Nimbus Sans"/>
              <a:cs typeface="Nimbus Sans"/>
            </a:endParaRPr>
          </a:p>
          <a:p>
            <a:pPr>
              <a:lnSpc>
                <a:spcPct val="114999"/>
              </a:lnSpc>
              <a:defRPr/>
            </a:pPr>
            <a:endParaRPr sz="2400" b="0" i="0" u="none" strike="noStrike" cap="none" spc="0">
              <a:solidFill>
                <a:schemeClr val="tx1"/>
              </a:solidFill>
              <a:latin typeface="Nimbus Sans"/>
              <a:cs typeface="Nimbus Sans"/>
            </a:endParaRPr>
          </a:p>
          <a:p>
            <a:pPr>
              <a:lnSpc>
                <a:spcPct val="114999"/>
              </a:lnSpc>
              <a:defRPr/>
            </a:pPr>
            <a:r>
              <a:rPr lang="en-GB" sz="2400" b="0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Observability &amp; Security: </a:t>
            </a:r>
            <a:endParaRPr sz="2400" b="0" i="0" u="none" strike="noStrike" cap="none" spc="0">
              <a:solidFill>
                <a:schemeClr val="tx1"/>
              </a:solidFill>
              <a:latin typeface="Nimbus Sans"/>
              <a:cs typeface="Nimbus Sans"/>
            </a:endParaRPr>
          </a:p>
          <a:p>
            <a:pPr>
              <a:lnSpc>
                <a:spcPct val="114999"/>
              </a:lnSpc>
              <a:defRPr/>
            </a:pPr>
            <a:endParaRPr sz="2400" b="0" i="0" u="none" strike="noStrike" cap="none" spc="0">
              <a:solidFill>
                <a:schemeClr val="tx1"/>
              </a:solidFill>
              <a:latin typeface="Nimbus Sans"/>
              <a:cs typeface="Nimbus Sans"/>
            </a:endParaRPr>
          </a:p>
        </p:txBody>
      </p:sp>
      <p:pic>
        <p:nvPicPr>
          <p:cNvPr id="335096278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rot="0" flipH="0" flipV="0">
            <a:off x="4410000" y="1389600"/>
            <a:ext cx="504000" cy="504000"/>
          </a:xfrm>
          <a:prstGeom prst="rect">
            <a:avLst/>
          </a:prstGeom>
        </p:spPr>
      </p:pic>
      <p:pic>
        <p:nvPicPr>
          <p:cNvPr id="253107692" name="Picture 2117951868"/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 bwMode="auto">
          <a:xfrm rot="0" flipH="0" flipV="0">
            <a:off x="5050798" y="1442108"/>
            <a:ext cx="398983" cy="398983"/>
          </a:xfrm>
          <a:prstGeom prst="rect">
            <a:avLst/>
          </a:prstGeom>
        </p:spPr>
      </p:pic>
      <p:pic>
        <p:nvPicPr>
          <p:cNvPr id="1156825612" name=""/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 bwMode="auto">
          <a:xfrm flipH="0" flipV="0">
            <a:off x="5667936" y="1438849"/>
            <a:ext cx="402241" cy="402241"/>
          </a:xfrm>
          <a:prstGeom prst="rect">
            <a:avLst/>
          </a:prstGeom>
        </p:spPr>
      </p:pic>
      <p:pic>
        <p:nvPicPr>
          <p:cNvPr id="2087890642" name=""/>
          <p:cNvPicPr>
            <a:picLocks noChangeAspect="1"/>
          </p:cNvPicPr>
          <p:nvPr/>
        </p:nvPicPr>
        <p:blipFill rotWithShape="1">
          <a:blip r:embed="rId9"/>
        </p:blipFill>
        <p:spPr bwMode="auto">
          <a:xfrm rot="0" flipH="0" flipV="0">
            <a:off x="4407876" y="2524123"/>
            <a:ext cx="504000" cy="417600"/>
          </a:xfrm>
          <a:prstGeom prst="rect">
            <a:avLst/>
          </a:prstGeom>
        </p:spPr>
      </p:pic>
      <p:pic>
        <p:nvPicPr>
          <p:cNvPr id="795993055" name=""/>
          <p:cNvPicPr>
            <a:picLocks noChangeAspect="1"/>
          </p:cNvPicPr>
          <p:nvPr/>
        </p:nvPicPr>
        <p:blipFill rotWithShape="1">
          <a:blip r:embed="rId10"/>
          <a:stretch/>
        </p:blipFill>
        <p:spPr bwMode="auto">
          <a:xfrm rot="0" flipH="0" flipV="0">
            <a:off x="4998291" y="2488124"/>
            <a:ext cx="504000" cy="489600"/>
          </a:xfrm>
          <a:prstGeom prst="rect">
            <a:avLst/>
          </a:prstGeom>
        </p:spPr>
      </p:pic>
      <p:pic>
        <p:nvPicPr>
          <p:cNvPr id="1931741215" name=""/>
          <p:cNvPicPr>
            <a:picLocks noChangeAspect="1"/>
          </p:cNvPicPr>
          <p:nvPr/>
        </p:nvPicPr>
        <p:blipFill rotWithShape="1"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/>
        </p:blipFill>
        <p:spPr bwMode="auto">
          <a:xfrm rot="0" flipH="0" flipV="0">
            <a:off x="5617057" y="2473723"/>
            <a:ext cx="504000" cy="504000"/>
          </a:xfrm>
          <a:prstGeom prst="rect">
            <a:avLst/>
          </a:prstGeom>
        </p:spPr>
      </p:pic>
      <p:pic>
        <p:nvPicPr>
          <p:cNvPr id="228206900" name=""/>
          <p:cNvPicPr>
            <a:picLocks noChangeAspect="1"/>
          </p:cNvPicPr>
          <p:nvPr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/>
        </p:blipFill>
        <p:spPr bwMode="auto">
          <a:xfrm rot="0" flipH="0" flipV="0">
            <a:off x="6234897" y="2524124"/>
            <a:ext cx="504000" cy="504000"/>
          </a:xfrm>
          <a:prstGeom prst="rect">
            <a:avLst/>
          </a:prstGeom>
        </p:spPr>
      </p:pic>
      <p:pic>
        <p:nvPicPr>
          <p:cNvPr id="570642535" name=""/>
          <p:cNvPicPr>
            <a:picLocks noChangeAspect="1"/>
          </p:cNvPicPr>
          <p:nvPr/>
        </p:nvPicPr>
        <p:blipFill rotWithShape="1">
          <a:blip r:embed="rId15"/>
          <a:stretch/>
        </p:blipFill>
        <p:spPr bwMode="auto">
          <a:xfrm rot="0" flipH="0" flipV="0">
            <a:off x="4268955" y="3429000"/>
            <a:ext cx="781843" cy="781843"/>
          </a:xfrm>
          <a:prstGeom prst="rect">
            <a:avLst/>
          </a:prstGeom>
        </p:spPr>
      </p:pic>
      <p:pic>
        <p:nvPicPr>
          <p:cNvPr id="255939523" name=""/>
          <p:cNvPicPr>
            <a:picLocks noChangeAspect="1"/>
          </p:cNvPicPr>
          <p:nvPr/>
        </p:nvPicPr>
        <p:blipFill rotWithShape="1"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/>
        </p:blipFill>
        <p:spPr bwMode="auto">
          <a:xfrm rot="0" flipH="0" flipV="0">
            <a:off x="4998291" y="3567921"/>
            <a:ext cx="504000" cy="504000"/>
          </a:xfrm>
          <a:prstGeom prst="rect">
            <a:avLst/>
          </a:prstGeom>
        </p:spPr>
      </p:pic>
      <p:pic>
        <p:nvPicPr>
          <p:cNvPr id="1520067139" name=""/>
          <p:cNvPicPr>
            <a:picLocks noChangeAspect="1"/>
          </p:cNvPicPr>
          <p:nvPr/>
        </p:nvPicPr>
        <p:blipFill rotWithShape="1">
          <a:blip r:embed="rId18"/>
          <a:stretch/>
        </p:blipFill>
        <p:spPr bwMode="auto">
          <a:xfrm flipH="0" flipV="0">
            <a:off x="6115800" y="3476624"/>
            <a:ext cx="742192" cy="742192"/>
          </a:xfrm>
          <a:prstGeom prst="rect">
            <a:avLst/>
          </a:prstGeom>
        </p:spPr>
      </p:pic>
      <p:pic>
        <p:nvPicPr>
          <p:cNvPr id="82621506" name=""/>
          <p:cNvPicPr>
            <a:picLocks noChangeAspect="1"/>
          </p:cNvPicPr>
          <p:nvPr/>
        </p:nvPicPr>
        <p:blipFill rotWithShape="1"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/>
        </p:blipFill>
        <p:spPr bwMode="auto">
          <a:xfrm rot="0" flipH="0" flipV="0">
            <a:off x="4407877" y="4667249"/>
            <a:ext cx="504000" cy="504000"/>
          </a:xfrm>
          <a:prstGeom prst="rect">
            <a:avLst/>
          </a:prstGeom>
        </p:spPr>
      </p:pic>
      <p:pic>
        <p:nvPicPr>
          <p:cNvPr id="1830518600" name=""/>
          <p:cNvPicPr>
            <a:picLocks noChangeAspect="1"/>
          </p:cNvPicPr>
          <p:nvPr/>
        </p:nvPicPr>
        <p:blipFill rotWithShape="1"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/>
        </p:blipFill>
        <p:spPr bwMode="auto">
          <a:xfrm rot="0" flipH="0" flipV="0">
            <a:off x="4998291" y="4651049"/>
            <a:ext cx="504000" cy="536400"/>
          </a:xfrm>
          <a:prstGeom prst="rect">
            <a:avLst/>
          </a:prstGeom>
        </p:spPr>
      </p:pic>
      <p:pic>
        <p:nvPicPr>
          <p:cNvPr id="1510756753" name=""/>
          <p:cNvPicPr>
            <a:picLocks noChangeAspect="1"/>
          </p:cNvPicPr>
          <p:nvPr/>
        </p:nvPicPr>
        <p:blipFill rotWithShape="1">
          <a:blip r:embed="rId23"/>
          <a:stretch/>
        </p:blipFill>
        <p:spPr bwMode="auto">
          <a:xfrm rot="0" flipH="0" flipV="0">
            <a:off x="5656458" y="4612443"/>
            <a:ext cx="942562" cy="558804"/>
          </a:xfrm>
          <a:prstGeom prst="rect">
            <a:avLst/>
          </a:prstGeom>
        </p:spPr>
      </p:pic>
      <p:pic>
        <p:nvPicPr>
          <p:cNvPr id="1254660316" name=""/>
          <p:cNvPicPr>
            <a:picLocks noChangeAspect="1"/>
          </p:cNvPicPr>
          <p:nvPr/>
        </p:nvPicPr>
        <p:blipFill rotWithShape="1"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/>
        </p:blipFill>
        <p:spPr bwMode="auto">
          <a:xfrm rot="0" flipH="0" flipV="0">
            <a:off x="5591999" y="3567921"/>
            <a:ext cx="504000" cy="504000"/>
          </a:xfrm>
          <a:prstGeom prst="rect">
            <a:avLst/>
          </a:prstGeom>
        </p:spPr>
      </p:pic>
      <p:pic>
        <p:nvPicPr>
          <p:cNvPr id="1859947834" name=""/>
          <p:cNvPicPr>
            <a:picLocks noChangeAspect="1"/>
          </p:cNvPicPr>
          <p:nvPr/>
        </p:nvPicPr>
        <p:blipFill rotWithShape="1">
          <a:blip r:embed="rId26"/>
          <a:stretch/>
        </p:blipFill>
        <p:spPr bwMode="auto">
          <a:xfrm flipH="0" flipV="0">
            <a:off x="6738897" y="4747825"/>
            <a:ext cx="870495" cy="342848"/>
          </a:xfrm>
          <a:prstGeom prst="rect">
            <a:avLst/>
          </a:prstGeom>
        </p:spPr>
      </p:pic>
      <p:pic>
        <p:nvPicPr>
          <p:cNvPr id="513385322" name=""/>
          <p:cNvPicPr>
            <a:picLocks noChangeAspect="1"/>
          </p:cNvPicPr>
          <p:nvPr/>
        </p:nvPicPr>
        <p:blipFill rotWithShape="1"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/>
        </p:blipFill>
        <p:spPr bwMode="auto">
          <a:xfrm rot="0" flipH="0" flipV="0">
            <a:off x="6857993" y="2480185"/>
            <a:ext cx="438427" cy="591878"/>
          </a:xfrm>
          <a:prstGeom prst="rect">
            <a:avLst/>
          </a:prstGeom>
        </p:spPr>
      </p:pic>
      <p:pic>
        <p:nvPicPr>
          <p:cNvPr id="153589109" name=""/>
          <p:cNvPicPr>
            <a:picLocks noChangeAspect="1"/>
          </p:cNvPicPr>
          <p:nvPr/>
        </p:nvPicPr>
        <p:blipFill rotWithShape="1"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/>
        </p:blipFill>
        <p:spPr bwMode="auto">
          <a:xfrm rot="0" flipH="0" flipV="0">
            <a:off x="7419600" y="2534400"/>
            <a:ext cx="504000" cy="504000"/>
          </a:xfrm>
          <a:prstGeom prst="rect">
            <a:avLst/>
          </a:prstGeom>
        </p:spPr>
      </p:pic>
      <p:pic>
        <p:nvPicPr>
          <p:cNvPr id="1928618071" name=""/>
          <p:cNvPicPr>
            <a:picLocks noChangeAspect="1"/>
          </p:cNvPicPr>
          <p:nvPr/>
        </p:nvPicPr>
        <p:blipFill rotWithShape="1">
          <a:blip r:embed="rId31"/>
          <a:stretch/>
        </p:blipFill>
        <p:spPr bwMode="auto">
          <a:xfrm flipH="0" flipV="0">
            <a:off x="6822454" y="3497275"/>
            <a:ext cx="687630" cy="721541"/>
          </a:xfrm>
          <a:prstGeom prst="rect">
            <a:avLst/>
          </a:prstGeom>
        </p:spPr>
      </p:pic>
      <p:pic>
        <p:nvPicPr>
          <p:cNvPr id="985684494" name=""/>
          <p:cNvPicPr>
            <a:picLocks noChangeAspect="1"/>
          </p:cNvPicPr>
          <p:nvPr/>
        </p:nvPicPr>
        <p:blipFill rotWithShape="1"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/>
        </p:blipFill>
        <p:spPr bwMode="auto">
          <a:xfrm rot="0" flipH="0" flipV="0">
            <a:off x="8053200" y="2509200"/>
            <a:ext cx="468000" cy="493200"/>
          </a:xfrm>
          <a:prstGeom prst="rect">
            <a:avLst/>
          </a:prstGeom>
        </p:spPr>
      </p:pic>
      <p:pic>
        <p:nvPicPr>
          <p:cNvPr id="1938280628" name=""/>
          <p:cNvPicPr>
            <a:picLocks noChangeAspect="1"/>
          </p:cNvPicPr>
          <p:nvPr/>
        </p:nvPicPr>
        <p:blipFill rotWithShape="1">
          <a:blip r:embed="rId34"/>
          <a:stretch/>
        </p:blipFill>
        <p:spPr bwMode="auto">
          <a:xfrm flipH="0" flipV="0">
            <a:off x="7764370" y="4667249"/>
            <a:ext cx="577658" cy="57765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2287965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396000" y="365123"/>
            <a:ext cx="11348357" cy="865186"/>
          </a:xfrm>
        </p:spPr>
        <p:txBody>
          <a:bodyPr/>
          <a:lstStyle/>
          <a:p>
            <a:pPr>
              <a:defRPr/>
            </a:pPr>
            <a:r>
              <a:rPr lang="de-DE" sz="4400" b="0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4. I</a:t>
            </a:r>
            <a:r>
              <a:rPr lang="de-DE" sz="4400" b="0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nfrastructure Provisioning</a:t>
            </a:r>
            <a:endParaRPr>
              <a:latin typeface="Nimbus Sans"/>
              <a:cs typeface="Nimbus Sans"/>
            </a:endParaRPr>
          </a:p>
        </p:txBody>
      </p:sp>
      <p:sp>
        <p:nvSpPr>
          <p:cNvPr id="1915774053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96000" y="1389061"/>
            <a:ext cx="11348357" cy="478789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</a:lstStyle>
          <a:p>
            <a:pPr>
              <a:defRPr/>
            </a:pPr>
            <a:r>
              <a:rPr lang="en-GB" sz="2400" b="1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Automated Foundations:</a:t>
            </a:r>
            <a:r>
              <a:rPr lang="en-GB" sz="2400" b="0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 Infrastructure as Code via Terraform for global services (Ingress, SSL, Monitoring).</a:t>
            </a:r>
            <a:endParaRPr sz="2400" b="0" i="0" u="none" strike="noStrike" cap="none" spc="0">
              <a:solidFill>
                <a:schemeClr val="tx1"/>
              </a:solidFill>
              <a:latin typeface="Nimbus Sans"/>
              <a:cs typeface="Nimbus Sans"/>
            </a:endParaRPr>
          </a:p>
          <a:p>
            <a:pPr>
              <a:defRPr/>
            </a:pPr>
            <a:endParaRPr sz="2400" b="0" i="0" u="none" strike="noStrike" cap="none" spc="0">
              <a:solidFill>
                <a:schemeClr val="tx1"/>
              </a:solidFill>
              <a:latin typeface="Nimbus Sans"/>
              <a:cs typeface="Nimbus Sans"/>
            </a:endParaRPr>
          </a:p>
          <a:p>
            <a:pPr>
              <a:defRPr/>
            </a:pPr>
            <a:r>
              <a:rPr lang="en-GB" sz="2400" b="1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Environment Setup:</a:t>
            </a:r>
            <a:r>
              <a:rPr lang="en-GB" sz="2400" b="0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 Isolated namespaces and persistent databases for Dev &amp; Prod.</a:t>
            </a:r>
            <a:endParaRPr sz="2400" b="0" i="0" u="none" strike="noStrike" cap="none" spc="0">
              <a:solidFill>
                <a:schemeClr val="tx1"/>
              </a:solidFill>
              <a:latin typeface="Nimbus Sans"/>
              <a:cs typeface="Nimbus Sans"/>
            </a:endParaRPr>
          </a:p>
          <a:p>
            <a:pPr>
              <a:defRPr/>
            </a:pPr>
            <a:endParaRPr sz="2400" b="0" i="0" u="none" strike="noStrike" cap="none" spc="0">
              <a:solidFill>
                <a:schemeClr val="tx1"/>
              </a:solidFill>
              <a:latin typeface="Nimbus Sans"/>
              <a:cs typeface="Nimbus Sans"/>
            </a:endParaRPr>
          </a:p>
          <a:p>
            <a:pPr>
              <a:lnSpc>
                <a:spcPct val="114999"/>
              </a:lnSpc>
              <a:defRPr/>
            </a:pPr>
            <a:r>
              <a:rPr lang="en-GB" sz="2400" b="1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GitOps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 (ArgoCD)</a:t>
            </a:r>
            <a:r>
              <a:rPr lang="en-GB" sz="2400" b="1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 Bootstrap:</a:t>
            </a:r>
            <a:r>
              <a:rPr lang="en-GB" sz="2400" b="0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 Using the App-of-Apps pattern to trigger automatic synchronization of all services.</a:t>
            </a:r>
            <a:endParaRPr sz="2400" b="0" i="0" u="none" strike="noStrike" cap="none" spc="0">
              <a:solidFill>
                <a:schemeClr val="tx1"/>
              </a:solidFill>
              <a:latin typeface="Nimbus Sans"/>
              <a:cs typeface="Nimbus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7352620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396000" y="365123"/>
            <a:ext cx="11348357" cy="865186"/>
          </a:xfrm>
        </p:spPr>
        <p:txBody>
          <a:bodyPr/>
          <a:lstStyle/>
          <a:p>
            <a:pPr>
              <a:defRPr/>
            </a:pPr>
            <a:r>
              <a:rPr lang="de-DE" sz="4400" b="0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5. How to deploy dev &amp; prod</a:t>
            </a:r>
            <a:endParaRPr>
              <a:latin typeface="Nimbus Sans"/>
              <a:cs typeface="Nimbus Sans"/>
            </a:endParaRPr>
          </a:p>
        </p:txBody>
      </p:sp>
      <p:sp>
        <p:nvSpPr>
          <p:cNvPr id="1715781888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96000" y="1389060"/>
            <a:ext cx="6848019" cy="5200364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</a:lstStyle>
          <a:p>
            <a:pPr>
              <a:defRPr/>
            </a:pPr>
            <a:r>
              <a:rPr lang="en-GB" sz="2200" b="1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Environment Isolation:</a:t>
            </a:r>
            <a:r>
              <a:rPr lang="en-GB" sz="2200" b="0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 Strictly separated via Kubernetes Namespaces (dev &amp; prod).</a:t>
            </a:r>
            <a:endParaRPr sz="2200" b="0" i="0" u="none" strike="noStrike" cap="none" spc="0">
              <a:solidFill>
                <a:schemeClr val="tx1"/>
              </a:solidFill>
              <a:latin typeface="Nimbus Sans"/>
              <a:cs typeface="Nimbus Sans"/>
            </a:endParaRPr>
          </a:p>
          <a:p>
            <a:pPr>
              <a:defRPr/>
            </a:pPr>
            <a:endParaRPr sz="2200" b="0" i="0" u="none" strike="noStrike" cap="none" spc="0">
              <a:solidFill>
                <a:schemeClr val="tx1"/>
              </a:solidFill>
              <a:latin typeface="Nimbus Sans"/>
              <a:cs typeface="Nimbus Sans"/>
            </a:endParaRPr>
          </a:p>
          <a:p>
            <a:pPr>
              <a:defRPr/>
            </a:pPr>
            <a:r>
              <a:rPr lang="en-GB" sz="2200" b="1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Dev Workflow</a:t>
            </a:r>
            <a:r>
              <a:rPr lang="de-DE" sz="2200" b="1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 (</a:t>
            </a:r>
            <a:r>
              <a:rPr lang="de-DE" sz="2200" b="1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values-dev.yaml)</a:t>
            </a:r>
            <a:r>
              <a:rPr lang="en-GB" sz="2200" b="1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: </a:t>
            </a:r>
            <a:r>
              <a:rPr lang="en-GB" sz="2200" b="0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Continuous Deployment triggered by every push to the develop branch.</a:t>
            </a:r>
            <a:endParaRPr sz="2200" b="0" i="0" u="none" strike="noStrike" cap="none" spc="0">
              <a:solidFill>
                <a:schemeClr val="tx1"/>
              </a:solidFill>
              <a:latin typeface="Nimbus Sans"/>
              <a:cs typeface="Nimbus Sans"/>
            </a:endParaRPr>
          </a:p>
          <a:p>
            <a:pPr>
              <a:defRPr/>
            </a:pPr>
            <a:endParaRPr sz="2200" b="0" i="0" u="none" strike="noStrike" cap="none" spc="0">
              <a:solidFill>
                <a:schemeClr val="tx1"/>
              </a:solidFill>
              <a:latin typeface="Nimbus Sans"/>
              <a:cs typeface="Nimbus Sans"/>
            </a:endParaRPr>
          </a:p>
          <a:p>
            <a:pPr>
              <a:defRPr/>
            </a:pPr>
            <a:r>
              <a:rPr lang="en-GB" sz="2200" b="1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Prod Workflow</a:t>
            </a:r>
            <a:r>
              <a:rPr lang="de-DE" sz="2200" b="1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 (</a:t>
            </a:r>
            <a:r>
              <a:rPr lang="de-DE" sz="2200" b="1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values-prod.yaml</a:t>
            </a:r>
            <a:r>
              <a:rPr lang="de-DE" sz="2200" b="1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)</a:t>
            </a:r>
            <a:r>
              <a:rPr lang="en-GB" sz="2200" b="0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: Continuous Delivery via Git Tags </a:t>
            </a:r>
            <a:r>
              <a:rPr lang="en-GB" sz="2200" b="0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(e.g., v1.0.2)</a:t>
            </a:r>
            <a:r>
              <a:rPr lang="de-DE" sz="2200" b="0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 </a:t>
            </a:r>
            <a:r>
              <a:rPr lang="en-GB" sz="2200" b="0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and Manual Approval.</a:t>
            </a:r>
            <a:endParaRPr sz="2200" b="0" i="0" u="none" strike="noStrike" cap="none" spc="0">
              <a:solidFill>
                <a:schemeClr val="tx1"/>
              </a:solidFill>
              <a:latin typeface="Nimbus Sans"/>
              <a:cs typeface="Nimbus Sans"/>
            </a:endParaRPr>
          </a:p>
          <a:p>
            <a:pPr marL="0" indent="0">
              <a:buFont typeface="Arial"/>
              <a:buNone/>
              <a:defRPr/>
            </a:pPr>
            <a:endParaRPr lang="en-GB" sz="2200" b="0" i="0" u="none" strike="noStrike" cap="none" spc="0">
              <a:solidFill>
                <a:schemeClr val="tx1"/>
              </a:solidFill>
              <a:latin typeface="Nimbus Sans"/>
              <a:ea typeface="Nimbus Sans"/>
              <a:cs typeface="Nimbus Sans"/>
            </a:endParaRPr>
          </a:p>
          <a:p>
            <a:pPr>
              <a:defRPr/>
            </a:pPr>
            <a:r>
              <a:rPr lang="en-GB" sz="2200" b="1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Dynamic Config (FE</a:t>
            </a:r>
            <a:r>
              <a:rPr lang="de-DE" sz="2200" b="1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, Angular</a:t>
            </a:r>
            <a:r>
              <a:rPr lang="en-GB" sz="2200" b="1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):</a:t>
            </a:r>
            <a:r>
              <a:rPr lang="en-GB" sz="2200" b="0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 Runtime API-URL injection via ConfigMaps (No re-builds required).</a:t>
            </a:r>
            <a:endParaRPr sz="2200" b="0" i="0" u="none" strike="noStrike" cap="none" spc="0">
              <a:solidFill>
                <a:schemeClr val="tx1"/>
              </a:solidFill>
              <a:latin typeface="Nimbus Sans"/>
              <a:cs typeface="Nimbus Sans"/>
            </a:endParaRPr>
          </a:p>
        </p:txBody>
      </p:sp>
      <p:pic>
        <p:nvPicPr>
          <p:cNvPr id="871687217" name=""/>
          <p:cNvPicPr>
            <a:picLocks noChangeAspect="1"/>
          </p:cNvPicPr>
          <p:nvPr/>
        </p:nvPicPr>
        <p:blipFill rotWithShape="1">
          <a:blip r:embed="rId3">
            <a:alphaModFix amt="99999"/>
          </a:blip>
          <a:stretch/>
        </p:blipFill>
        <p:spPr bwMode="auto">
          <a:xfrm flipH="0" flipV="0">
            <a:off x="7536107" y="2221848"/>
            <a:ext cx="4464728" cy="2712413"/>
          </a:xfrm>
          <a:prstGeom prst="rect">
            <a:avLst/>
          </a:prstGeom>
          <a:ln w="12700">
            <a:solidFill>
              <a:srgbClr val="000000">
                <a:alpha val="99999"/>
              </a:srgbClr>
            </a:solidFill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189879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396000" y="365122"/>
            <a:ext cx="11348357" cy="865185"/>
          </a:xfrm>
        </p:spPr>
        <p:txBody>
          <a:bodyPr/>
          <a:lstStyle/>
          <a:p>
            <a:pPr>
              <a:defRPr/>
            </a:pPr>
            <a:r>
              <a:rPr lang="de-DE" sz="4400" b="0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5. How to deploy dev &amp; prod</a:t>
            </a:r>
            <a:endParaRPr>
              <a:latin typeface="Nimbus Sans"/>
              <a:cs typeface="Nimbus Sans"/>
            </a:endParaRPr>
          </a:p>
        </p:txBody>
      </p:sp>
      <p:sp>
        <p:nvSpPr>
          <p:cNvPr id="490614381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96000" y="1389060"/>
            <a:ext cx="6848019" cy="5200364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</a:lstStyle>
          <a:p>
            <a:pPr>
              <a:defRPr/>
            </a:pPr>
            <a:r>
              <a:rPr lang="en-GB" sz="2200" b="1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Environment Isolation:</a:t>
            </a:r>
            <a:r>
              <a:rPr lang="en-GB" sz="2200" b="0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 Strictly separated via Kubernetes Namespaces (dev &amp; prod).</a:t>
            </a:r>
            <a:endParaRPr sz="2200" b="0" i="0" u="none" strike="noStrike" cap="none" spc="0">
              <a:solidFill>
                <a:schemeClr val="tx1"/>
              </a:solidFill>
              <a:latin typeface="Nimbus Sans"/>
              <a:cs typeface="Nimbus Sans"/>
            </a:endParaRPr>
          </a:p>
          <a:p>
            <a:pPr>
              <a:defRPr/>
            </a:pPr>
            <a:endParaRPr sz="2200" b="0" i="0" u="none" strike="noStrike" cap="none" spc="0">
              <a:solidFill>
                <a:schemeClr val="tx1"/>
              </a:solidFill>
              <a:latin typeface="Nimbus Sans"/>
              <a:cs typeface="Nimbus Sans"/>
            </a:endParaRPr>
          </a:p>
          <a:p>
            <a:pPr>
              <a:defRPr/>
            </a:pPr>
            <a:r>
              <a:rPr lang="en-GB" sz="2200" b="1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Dev Workflow</a:t>
            </a:r>
            <a:r>
              <a:rPr lang="de-DE" sz="2200" b="1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 (</a:t>
            </a:r>
            <a:r>
              <a:rPr lang="de-DE" sz="2200" b="1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values-dev.yaml)</a:t>
            </a:r>
            <a:r>
              <a:rPr lang="en-GB" sz="2200" b="1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: </a:t>
            </a:r>
            <a:r>
              <a:rPr lang="en-GB" sz="2200" b="0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Continuous Deployment triggered by every push to the develop branch.</a:t>
            </a:r>
            <a:endParaRPr sz="2200" b="0" i="0" u="none" strike="noStrike" cap="none" spc="0">
              <a:solidFill>
                <a:schemeClr val="tx1"/>
              </a:solidFill>
              <a:latin typeface="Nimbus Sans"/>
              <a:cs typeface="Nimbus Sans"/>
            </a:endParaRPr>
          </a:p>
          <a:p>
            <a:pPr>
              <a:defRPr/>
            </a:pPr>
            <a:endParaRPr sz="2200" b="0" i="0" u="none" strike="noStrike" cap="none" spc="0">
              <a:solidFill>
                <a:schemeClr val="tx1"/>
              </a:solidFill>
              <a:latin typeface="Nimbus Sans"/>
              <a:cs typeface="Nimbus Sans"/>
            </a:endParaRPr>
          </a:p>
          <a:p>
            <a:pPr>
              <a:defRPr/>
            </a:pPr>
            <a:r>
              <a:rPr lang="en-GB" sz="2200" b="1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Prod Workflow</a:t>
            </a:r>
            <a:r>
              <a:rPr lang="de-DE" sz="2200" b="1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 (</a:t>
            </a:r>
            <a:r>
              <a:rPr lang="de-DE" sz="2200" b="1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values-prod.yaml</a:t>
            </a:r>
            <a:r>
              <a:rPr lang="de-DE" sz="2200" b="1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)</a:t>
            </a:r>
            <a:r>
              <a:rPr lang="en-GB" sz="2200" b="0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: Continuous Delivery via Git Tags </a:t>
            </a:r>
            <a:r>
              <a:rPr lang="en-GB" sz="2200" b="0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(e.g., v1.0.2)</a:t>
            </a:r>
            <a:r>
              <a:rPr lang="de-DE" sz="2200" b="0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 </a:t>
            </a:r>
            <a:r>
              <a:rPr lang="en-GB" sz="2200" b="0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and Manual Approval.</a:t>
            </a:r>
            <a:endParaRPr sz="2200" b="0" i="0" u="none" strike="noStrike" cap="none" spc="0">
              <a:solidFill>
                <a:schemeClr val="tx1"/>
              </a:solidFill>
              <a:latin typeface="Nimbus Sans"/>
              <a:cs typeface="Nimbus Sans"/>
            </a:endParaRPr>
          </a:p>
          <a:p>
            <a:pPr marL="0" indent="0">
              <a:buFont typeface="Arial"/>
              <a:buNone/>
              <a:defRPr/>
            </a:pPr>
            <a:endParaRPr sz="2200" b="0" i="0" u="none" strike="noStrike" cap="none" spc="0">
              <a:solidFill>
                <a:schemeClr val="tx1"/>
              </a:solidFill>
              <a:latin typeface="Nimbus Sans"/>
              <a:ea typeface="Nimbus Sans"/>
              <a:cs typeface="Nimbus Sans"/>
            </a:endParaRPr>
          </a:p>
          <a:p>
            <a:pPr>
              <a:defRPr/>
            </a:pPr>
            <a:r>
              <a:rPr lang="en-GB" sz="2200" b="1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Dynamic Config (FE</a:t>
            </a:r>
            <a:r>
              <a:rPr lang="de-DE" sz="2200" b="1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, Angular</a:t>
            </a:r>
            <a:r>
              <a:rPr lang="en-GB" sz="2200" b="1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):</a:t>
            </a:r>
            <a:r>
              <a:rPr lang="en-GB" sz="2200" b="0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 Runtime API-URL injection via ConfigMaps (No re-builds required).</a:t>
            </a:r>
            <a:endParaRPr sz="2200" b="0" i="0" u="none" strike="noStrike" cap="none" spc="0">
              <a:solidFill>
                <a:schemeClr val="tx1"/>
              </a:solidFill>
              <a:latin typeface="Nimbus Sans"/>
              <a:cs typeface="Nimbus Sans"/>
            </a:endParaRPr>
          </a:p>
          <a:p>
            <a:pPr>
              <a:defRPr/>
            </a:pPr>
            <a:endParaRPr/>
          </a:p>
        </p:txBody>
      </p:sp>
      <p:sp>
        <p:nvSpPr>
          <p:cNvPr id="1888666800" name=""/>
          <p:cNvSpPr txBox="1"/>
          <p:nvPr/>
        </p:nvSpPr>
        <p:spPr bwMode="auto">
          <a:xfrm rot="0" flipH="0" flipV="0">
            <a:off x="7527909" y="1389060"/>
            <a:ext cx="4727952" cy="432090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150" b="0" i="0" u="none">
                <a:solidFill>
                  <a:srgbClr val="0033B3"/>
                </a:solidFill>
                <a:latin typeface="Ubuntu Mono"/>
                <a:ea typeface="Ubuntu Mono"/>
                <a:cs typeface="Ubuntu Mono"/>
              </a:rPr>
              <a:t>apiVersion</a:t>
            </a: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: </a:t>
            </a:r>
            <a:r>
              <a:rPr sz="1150" b="0" i="1" u="none">
                <a:solidFill>
                  <a:srgbClr val="871094"/>
                </a:solidFill>
                <a:latin typeface="Ubuntu Mono"/>
                <a:ea typeface="Ubuntu Mono"/>
                <a:cs typeface="Ubuntu Mono"/>
              </a:rPr>
              <a:t>v1</a:t>
            </a:r>
            <a:br>
              <a:rPr sz="1150" b="0" i="1" u="none">
                <a:solidFill>
                  <a:srgbClr val="871094"/>
                </a:solidFill>
                <a:latin typeface="Ubuntu Mono"/>
                <a:ea typeface="Ubuntu Mono"/>
                <a:cs typeface="Ubuntu Mono"/>
              </a:rPr>
            </a:br>
            <a:r>
              <a:rPr sz="1150" b="0" i="0" u="none">
                <a:solidFill>
                  <a:srgbClr val="0033B3"/>
                </a:solidFill>
                <a:latin typeface="Ubuntu Mono"/>
                <a:ea typeface="Ubuntu Mono"/>
                <a:cs typeface="Ubuntu Mono"/>
              </a:rPr>
              <a:t>kind</a:t>
            </a: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: </a:t>
            </a:r>
            <a:r>
              <a:rPr sz="1150" b="0" i="1" u="none">
                <a:solidFill>
                  <a:srgbClr val="871094"/>
                </a:solidFill>
                <a:latin typeface="Ubuntu Mono"/>
                <a:ea typeface="Ubuntu Mono"/>
                <a:cs typeface="Ubuntu Mono"/>
              </a:rPr>
              <a:t>ConfigMap</a:t>
            </a:r>
            <a:br>
              <a:rPr sz="1150" b="0" i="1" u="none">
                <a:solidFill>
                  <a:srgbClr val="871094"/>
                </a:solidFill>
                <a:latin typeface="Ubuntu Mono"/>
                <a:ea typeface="Ubuntu Mono"/>
                <a:cs typeface="Ubuntu Mono"/>
              </a:rPr>
            </a:br>
            <a:r>
              <a:rPr sz="1150" b="0" i="0" u="none">
                <a:solidFill>
                  <a:srgbClr val="0033B3"/>
                </a:solidFill>
                <a:latin typeface="Ubuntu Mono"/>
                <a:ea typeface="Ubuntu Mono"/>
                <a:cs typeface="Ubuntu Mono"/>
              </a:rPr>
              <a:t>metadata</a:t>
            </a: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:</a:t>
            </a:r>
            <a:b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</a:b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  </a:t>
            </a:r>
            <a:r>
              <a:rPr sz="1150" b="0" i="0" u="none">
                <a:solidFill>
                  <a:srgbClr val="0033B3"/>
                </a:solidFill>
                <a:latin typeface="Ubuntu Mono"/>
                <a:ea typeface="Ubuntu Mono"/>
                <a:cs typeface="Ubuntu Mono"/>
              </a:rPr>
              <a:t>name</a:t>
            </a: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: </a:t>
            </a: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{{ </a:t>
            </a:r>
            <a:r>
              <a:rPr sz="1150" b="0" i="0" u="none">
                <a:solidFill>
                  <a:srgbClr val="000000"/>
                </a:solidFill>
                <a:latin typeface="Ubuntu Mono"/>
                <a:ea typeface="Ubuntu Mono"/>
                <a:cs typeface="Ubuntu Mono"/>
              </a:rPr>
              <a:t>include </a:t>
            </a:r>
            <a:r>
              <a:rPr sz="1150" b="0" i="0" u="none">
                <a:solidFill>
                  <a:srgbClr val="067D17"/>
                </a:solidFill>
                <a:latin typeface="Ubuntu Mono"/>
                <a:ea typeface="Ubuntu Mono"/>
                <a:cs typeface="Ubuntu Mono"/>
              </a:rPr>
              <a:t>"frontend.fullname" </a:t>
            </a: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. }}</a:t>
            </a: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-config</a:t>
            </a:r>
            <a:b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</a:br>
            <a:r>
              <a:rPr sz="1150" b="0" i="0" u="none">
                <a:solidFill>
                  <a:srgbClr val="0033B3"/>
                </a:solidFill>
                <a:latin typeface="Ubuntu Mono"/>
                <a:ea typeface="Ubuntu Mono"/>
                <a:cs typeface="Ubuntu Mono"/>
              </a:rPr>
              <a:t>data</a:t>
            </a: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:</a:t>
            </a:r>
            <a:b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</a:b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  </a:t>
            </a:r>
            <a:r>
              <a:rPr sz="1150" b="0" i="0" u="none">
                <a:solidFill>
                  <a:srgbClr val="0033B3"/>
                </a:solidFill>
                <a:latin typeface="Ubuntu Mono"/>
                <a:ea typeface="Ubuntu Mono"/>
                <a:cs typeface="Ubuntu Mono"/>
              </a:rPr>
              <a:t>env.js</a:t>
            </a: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: |</a:t>
            </a:r>
            <a:b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</a:b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    </a:t>
            </a:r>
            <a:r>
              <a:rPr sz="1150" b="0" i="0" u="none">
                <a:solidFill>
                  <a:srgbClr val="830091"/>
                </a:solidFill>
                <a:latin typeface="Ubuntu Mono"/>
                <a:ea typeface="Ubuntu Mono"/>
                <a:cs typeface="Ubuntu Mono"/>
              </a:rPr>
              <a:t>window</a:t>
            </a: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.</a:t>
            </a:r>
            <a:r>
              <a:rPr sz="1150" b="0" i="0" u="none">
                <a:solidFill>
                  <a:srgbClr val="871094"/>
                </a:solidFill>
                <a:latin typeface="Ubuntu Mono"/>
                <a:ea typeface="Ubuntu Mono"/>
                <a:cs typeface="Ubuntu Mono"/>
              </a:rPr>
              <a:t>__env</a:t>
            </a: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 = {</a:t>
            </a:r>
            <a:b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</a:b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    </a:t>
            </a: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    REST_API_URL: "</a:t>
            </a: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{{ .</a:t>
            </a:r>
            <a:r>
              <a:rPr sz="1150" b="0" i="0" u="none">
                <a:solidFill>
                  <a:srgbClr val="000000"/>
                </a:solidFill>
                <a:latin typeface="Ubuntu Mono"/>
                <a:ea typeface="Ubuntu Mono"/>
                <a:cs typeface="Ubuntu Mono"/>
              </a:rPr>
              <a:t>Values</a:t>
            </a: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.</a:t>
            </a:r>
            <a:r>
              <a:rPr sz="1150" b="0" i="0" u="none">
                <a:solidFill>
                  <a:srgbClr val="000000"/>
                </a:solidFill>
                <a:latin typeface="Ubuntu Mono"/>
                <a:ea typeface="Ubuntu Mono"/>
                <a:cs typeface="Ubuntu Mono"/>
              </a:rPr>
              <a:t>env</a:t>
            </a: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.</a:t>
            </a:r>
            <a:r>
              <a:rPr sz="1150" b="0" i="0" u="none">
                <a:solidFill>
                  <a:srgbClr val="000000"/>
                </a:solidFill>
                <a:latin typeface="Ubuntu Mono"/>
                <a:ea typeface="Ubuntu Mono"/>
                <a:cs typeface="Ubuntu Mono"/>
              </a:rPr>
              <a:t>REST_API_URL </a:t>
            </a: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}}</a:t>
            </a: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",</a:t>
            </a:r>
            <a:b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</a:b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    </a:t>
            </a: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    ENV_NAME: "</a:t>
            </a: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{{ .</a:t>
            </a:r>
            <a:r>
              <a:rPr sz="1150" b="0" i="0" u="none">
                <a:solidFill>
                  <a:srgbClr val="000000"/>
                </a:solidFill>
                <a:latin typeface="Ubuntu Mono"/>
                <a:ea typeface="Ubuntu Mono"/>
                <a:cs typeface="Ubuntu Mono"/>
              </a:rPr>
              <a:t>Values</a:t>
            </a: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.</a:t>
            </a:r>
            <a:r>
              <a:rPr sz="1150" b="0" i="0" u="none">
                <a:solidFill>
                  <a:srgbClr val="000000"/>
                </a:solidFill>
                <a:latin typeface="Ubuntu Mono"/>
                <a:ea typeface="Ubuntu Mono"/>
                <a:cs typeface="Ubuntu Mono"/>
              </a:rPr>
              <a:t>env</a:t>
            </a: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.</a:t>
            </a:r>
            <a:r>
              <a:rPr sz="1150" b="0" i="0" u="none">
                <a:solidFill>
                  <a:srgbClr val="000000"/>
                </a:solidFill>
                <a:latin typeface="Ubuntu Mono"/>
                <a:ea typeface="Ubuntu Mono"/>
                <a:cs typeface="Ubuntu Mono"/>
              </a:rPr>
              <a:t>ENV_NAME </a:t>
            </a: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}}</a:t>
            </a: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"</a:t>
            </a:r>
            <a:b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</a:b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    </a:t>
            </a: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};</a:t>
            </a:r>
            <a:b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</a:br>
            <a:endParaRPr lang="de-DE"/>
          </a:p>
          <a:p>
            <a:pPr>
              <a:defRPr/>
            </a:pPr>
            <a:r>
              <a:rPr lang="de-DE">
                <a:solidFill>
                  <a:schemeClr val="bg1">
                    <a:lumMod val="50000"/>
                  </a:schemeClr>
                </a:solidFill>
              </a:rPr>
              <a:t># usage</a:t>
            </a:r>
            <a:r>
              <a:rPr lang="de-DE">
                <a:solidFill>
                  <a:schemeClr val="bg1">
                    <a:lumMod val="50000"/>
                  </a:schemeClr>
                </a:solidFill>
              </a:rPr>
              <a:t> in deployment.yaml</a:t>
            </a:r>
            <a:endParaRPr/>
          </a:p>
          <a:p>
            <a:pPr>
              <a:defRPr/>
            </a:pPr>
            <a:r>
              <a:rPr sz="1150" b="0" i="0" u="none">
                <a:solidFill>
                  <a:srgbClr val="0033B3"/>
                </a:solidFill>
                <a:latin typeface="Ubuntu Mono"/>
                <a:ea typeface="Ubuntu Mono"/>
                <a:cs typeface="Ubuntu Mono"/>
              </a:rPr>
              <a:t>spec</a:t>
            </a: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:</a:t>
            </a:r>
            <a:b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</a:b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  </a:t>
            </a:r>
            <a:r>
              <a:rPr sz="1150" b="0" i="0" u="none">
                <a:solidFill>
                  <a:srgbClr val="0033B3"/>
                </a:solidFill>
                <a:latin typeface="Ubuntu Mono"/>
                <a:ea typeface="Ubuntu Mono"/>
                <a:cs typeface="Ubuntu Mono"/>
              </a:rPr>
              <a:t>containers</a:t>
            </a: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:</a:t>
            </a:r>
            <a:b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</a:b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    - </a:t>
            </a:r>
            <a:r>
              <a:rPr sz="1150" b="0" i="0" u="none">
                <a:solidFill>
                  <a:srgbClr val="0033B3"/>
                </a:solidFill>
                <a:latin typeface="Ubuntu Mono"/>
                <a:ea typeface="Ubuntu Mono"/>
                <a:cs typeface="Ubuntu Mono"/>
              </a:rPr>
              <a:t>name</a:t>
            </a: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: </a:t>
            </a: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{{ .</a:t>
            </a:r>
            <a:r>
              <a:rPr sz="1150" b="0" i="0" u="none">
                <a:solidFill>
                  <a:srgbClr val="000000"/>
                </a:solidFill>
                <a:latin typeface="Ubuntu Mono"/>
                <a:ea typeface="Ubuntu Mono"/>
                <a:cs typeface="Ubuntu Mono"/>
              </a:rPr>
              <a:t>Chart</a:t>
            </a: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.</a:t>
            </a:r>
            <a:r>
              <a:rPr sz="1150" b="0" i="0" u="none">
                <a:solidFill>
                  <a:srgbClr val="000000"/>
                </a:solidFill>
                <a:latin typeface="Ubuntu Mono"/>
                <a:ea typeface="Ubuntu Mono"/>
                <a:cs typeface="Ubuntu Mono"/>
              </a:rPr>
              <a:t>Name </a:t>
            </a: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}}</a:t>
            </a:r>
            <a:b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</a:b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      </a:t>
            </a:r>
            <a:r>
              <a:rPr sz="1150" b="0" i="0" u="none">
                <a:solidFill>
                  <a:srgbClr val="0033B3"/>
                </a:solidFill>
                <a:latin typeface="Ubuntu Mono"/>
                <a:ea typeface="Ubuntu Mono"/>
                <a:cs typeface="Ubuntu Mono"/>
              </a:rPr>
              <a:t>volumeMounts</a:t>
            </a: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:</a:t>
            </a:r>
            <a:b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</a:b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        - </a:t>
            </a:r>
            <a:r>
              <a:rPr sz="1150" b="0" i="0" u="none">
                <a:solidFill>
                  <a:srgbClr val="0033B3"/>
                </a:solidFill>
                <a:latin typeface="Ubuntu Mono"/>
                <a:ea typeface="Ubuntu Mono"/>
                <a:cs typeface="Ubuntu Mono"/>
              </a:rPr>
              <a:t>name</a:t>
            </a: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: frontend-config</a:t>
            </a:r>
            <a:b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</a:b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          </a:t>
            </a:r>
            <a:r>
              <a:rPr sz="1150" b="0" i="0" u="none">
                <a:solidFill>
                  <a:srgbClr val="0033B3"/>
                </a:solidFill>
                <a:latin typeface="Ubuntu Mono"/>
                <a:ea typeface="Ubuntu Mono"/>
                <a:cs typeface="Ubuntu Mono"/>
              </a:rPr>
              <a:t>mountPath</a:t>
            </a: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: /usr/share/nginx/html/assets/env.js</a:t>
            </a:r>
            <a:b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</a:b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          </a:t>
            </a:r>
            <a:r>
              <a:rPr sz="1150" b="0" i="0" u="none">
                <a:solidFill>
                  <a:srgbClr val="0033B3"/>
                </a:solidFill>
                <a:latin typeface="Ubuntu Mono"/>
                <a:ea typeface="Ubuntu Mono"/>
                <a:cs typeface="Ubuntu Mono"/>
              </a:rPr>
              <a:t>subPath</a:t>
            </a: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: env.js</a:t>
            </a:r>
            <a:b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</a:b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  </a:t>
            </a:r>
            <a:r>
              <a:rPr sz="1150" b="0" i="0" u="none">
                <a:solidFill>
                  <a:srgbClr val="0033B3"/>
                </a:solidFill>
                <a:latin typeface="Ubuntu Mono"/>
                <a:ea typeface="Ubuntu Mono"/>
                <a:cs typeface="Ubuntu Mono"/>
              </a:rPr>
              <a:t>volumes</a:t>
            </a: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:</a:t>
            </a:r>
            <a:b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</a:b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    - </a:t>
            </a:r>
            <a:r>
              <a:rPr sz="1150" b="0" i="0" u="none">
                <a:solidFill>
                  <a:srgbClr val="0033B3"/>
                </a:solidFill>
                <a:latin typeface="Ubuntu Mono"/>
                <a:ea typeface="Ubuntu Mono"/>
                <a:cs typeface="Ubuntu Mono"/>
              </a:rPr>
              <a:t>name</a:t>
            </a: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: frontend-config</a:t>
            </a:r>
            <a:b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</a:b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      </a:t>
            </a:r>
            <a:r>
              <a:rPr sz="1150" b="0" i="0" u="none">
                <a:solidFill>
                  <a:srgbClr val="0033B3"/>
                </a:solidFill>
                <a:latin typeface="Ubuntu Mono"/>
                <a:ea typeface="Ubuntu Mono"/>
                <a:cs typeface="Ubuntu Mono"/>
              </a:rPr>
              <a:t>configMap</a:t>
            </a: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:</a:t>
            </a:r>
            <a:b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</a:b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        </a:t>
            </a:r>
            <a:r>
              <a:rPr sz="1150" b="0" i="0" u="none">
                <a:solidFill>
                  <a:srgbClr val="0033B3"/>
                </a:solidFill>
                <a:latin typeface="Ubuntu Mono"/>
                <a:ea typeface="Ubuntu Mono"/>
                <a:cs typeface="Ubuntu Mono"/>
              </a:rPr>
              <a:t>name</a:t>
            </a: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: </a:t>
            </a: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{{ </a:t>
            </a:r>
            <a:r>
              <a:rPr sz="1150" b="0" i="0" u="none">
                <a:solidFill>
                  <a:srgbClr val="000000"/>
                </a:solidFill>
                <a:latin typeface="Ubuntu Mono"/>
                <a:ea typeface="Ubuntu Mono"/>
                <a:cs typeface="Ubuntu Mono"/>
              </a:rPr>
              <a:t>include </a:t>
            </a:r>
            <a:r>
              <a:rPr sz="1150" b="0" i="0" u="none">
                <a:solidFill>
                  <a:srgbClr val="067D17"/>
                </a:solidFill>
                <a:latin typeface="Ubuntu Mono"/>
                <a:ea typeface="Ubuntu Mono"/>
                <a:cs typeface="Ubuntu Mono"/>
              </a:rPr>
              <a:t>"frontend.fullname" </a:t>
            </a: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. }}</a:t>
            </a:r>
            <a:r>
              <a:rPr sz="1150" b="0" i="0" u="none">
                <a:solidFill>
                  <a:srgbClr val="080808"/>
                </a:solidFill>
                <a:latin typeface="Ubuntu Mono"/>
                <a:ea typeface="Ubuntu Mono"/>
                <a:cs typeface="Ubuntu Mono"/>
              </a:rPr>
              <a:t>-config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6144125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396000" y="365122"/>
            <a:ext cx="11348357" cy="865185"/>
          </a:xfrm>
        </p:spPr>
        <p:txBody>
          <a:bodyPr/>
          <a:lstStyle/>
          <a:p>
            <a:pPr>
              <a:defRPr/>
            </a:pPr>
            <a:r>
              <a:rPr lang="de-DE" sz="4400" b="0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6. </a:t>
            </a:r>
            <a:r>
              <a:rPr lang="de-DE" sz="4400" b="0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CI/CD Pipeline &amp; DevSecOps</a:t>
            </a:r>
            <a:endParaRPr>
              <a:latin typeface="Nimbus Sans"/>
              <a:cs typeface="Nimbus Sans"/>
            </a:endParaRPr>
          </a:p>
        </p:txBody>
      </p:sp>
      <p:pic>
        <p:nvPicPr>
          <p:cNvPr id="3167320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392915" y="1283224"/>
            <a:ext cx="11643392" cy="550614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413148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396000" y="365122"/>
            <a:ext cx="11348357" cy="865185"/>
          </a:xfrm>
        </p:spPr>
        <p:txBody>
          <a:bodyPr/>
          <a:lstStyle/>
          <a:p>
            <a:pPr>
              <a:defRPr/>
            </a:pPr>
            <a:r>
              <a:rPr lang="de-DE" sz="4400" b="0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7. </a:t>
            </a:r>
            <a:r>
              <a:rPr lang="de-DE" sz="4400" b="0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Resilience &amp; Disaster Recovery</a:t>
            </a:r>
            <a:endParaRPr>
              <a:latin typeface="Nimbus Sans"/>
              <a:cs typeface="Nimbus Sans"/>
            </a:endParaRPr>
          </a:p>
        </p:txBody>
      </p:sp>
      <p:sp>
        <p:nvSpPr>
          <p:cNvPr id="82604265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96000" y="1389060"/>
            <a:ext cx="11348357" cy="478789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</a:lstStyle>
          <a:p>
            <a:pPr>
              <a:defRPr/>
            </a:pPr>
            <a:r>
              <a:rPr lang="en-GB" sz="2400" b="1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Self-Healing:</a:t>
            </a:r>
            <a:r>
              <a:rPr lang="en-GB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Automatic container recovery via Liveness &amp; Readiness probes.</a:t>
            </a:r>
            <a:endParaRPr lang="en-GB" sz="24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endParaRPr lang="en-GB" sz="24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GB" sz="2400" b="1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Database Backups:</a:t>
            </a:r>
            <a:r>
              <a:rPr lang="en-GB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Daily automated </a:t>
            </a:r>
            <a:r>
              <a:rPr lang="en-GB" sz="2400" b="0" i="0" u="none" strike="noStrike" cap="none" spc="0">
                <a:solidFill>
                  <a:schemeClr val="tx1"/>
                </a:solidFill>
                <a:latin typeface="Ubuntu Mono"/>
                <a:ea typeface="Ubuntu Mono"/>
                <a:cs typeface="Ubuntu Mono"/>
              </a:rPr>
              <a:t>pg_dump</a:t>
            </a:r>
            <a:r>
              <a:rPr lang="en-GB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via Kubernetes CronJobs.</a:t>
            </a:r>
            <a:endParaRPr lang="en-GB" sz="24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endParaRPr lang="en-GB" sz="24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GB" sz="2400" b="1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Infrastructure Recovery</a:t>
            </a:r>
            <a:r>
              <a:rPr lang="en-GB" sz="2400" b="1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:</a:t>
            </a:r>
            <a:r>
              <a:rPr lang="en-GB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Full reconstruction using the layered Terraform &amp;</a:t>
            </a:r>
            <a:r>
              <a:rPr lang="de-DE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</a:t>
            </a:r>
            <a:r>
              <a:rPr lang="en-GB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GitOps approach.</a:t>
            </a:r>
            <a:endParaRPr lang="en-GB" sz="24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endParaRPr lang="en-GB" sz="24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GB" sz="2400" b="1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GitOps Rollback:</a:t>
            </a:r>
            <a:r>
              <a:rPr lang="en-GB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Instant version reversal by reverting commits in Git.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9196796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396000" y="365122"/>
            <a:ext cx="11348357" cy="865185"/>
          </a:xfrm>
        </p:spPr>
        <p:txBody>
          <a:bodyPr/>
          <a:lstStyle/>
          <a:p>
            <a:pPr>
              <a:defRPr/>
            </a:pPr>
            <a:r>
              <a:rPr lang="de-DE" sz="4400" b="0" i="0" u="none" strike="noStrike" cap="none" spc="0">
                <a:solidFill>
                  <a:schemeClr val="tx1"/>
                </a:solidFill>
                <a:latin typeface="Nimbus Sans"/>
                <a:ea typeface="Nimbus Sans"/>
                <a:cs typeface="Nimbus Sans"/>
              </a:rPr>
              <a:t>Demo</a:t>
            </a:r>
            <a:endParaRPr>
              <a:latin typeface="Nimbus Sans"/>
              <a:cs typeface="Nimbus Sans"/>
            </a:endParaRPr>
          </a:p>
        </p:txBody>
      </p:sp>
      <p:sp>
        <p:nvSpPr>
          <p:cNvPr id="668488309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96000" y="1389060"/>
            <a:ext cx="11348357" cy="478789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</a:lstStyle>
          <a:p>
            <a:pPr>
              <a:defRPr/>
            </a:pPr>
            <a:r>
              <a:rPr lang="de-DE" sz="2400"/>
              <a:t>Pipeline in Action</a:t>
            </a:r>
            <a:endParaRPr sz="2400"/>
          </a:p>
          <a:p>
            <a:pPr lvl="1">
              <a:defRPr/>
            </a:pPr>
            <a:r>
              <a:rPr lang="de-DE" sz="2400"/>
              <a:t>Adjust FE text</a:t>
            </a:r>
            <a:endParaRPr sz="2400"/>
          </a:p>
          <a:p>
            <a:pPr lvl="1">
              <a:defRPr/>
            </a:pPr>
            <a:r>
              <a:rPr lang="de-DE" sz="2400"/>
              <a:t>Adjust BE logs</a:t>
            </a:r>
            <a:endParaRPr sz="2400"/>
          </a:p>
          <a:p>
            <a:pPr marL="457200" lvl="1" indent="0">
              <a:buFont typeface="Arial"/>
              <a:buNone/>
              <a:defRPr/>
            </a:pPr>
            <a:endParaRPr sz="2400"/>
          </a:p>
          <a:p>
            <a:pPr lvl="0"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After Deployment</a:t>
            </a:r>
            <a:endParaRPr sz="24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 lvl="1"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Check ArgoCD UI</a:t>
            </a:r>
            <a:endParaRPr sz="2400"/>
          </a:p>
          <a:p>
            <a:pPr lvl="1">
              <a:defRPr/>
            </a:pPr>
            <a:r>
              <a:rPr lang="de-DE" sz="2400"/>
              <a:t>Check Grafana Logs for adjusted BE logs</a:t>
            </a:r>
            <a:endParaRPr sz="2400"/>
          </a:p>
          <a:p>
            <a:pPr lvl="0">
              <a:defRPr/>
            </a:pPr>
            <a:endParaRPr sz="2400"/>
          </a:p>
          <a:p>
            <a:pPr lvl="0"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Demonstrate Fault Tolerance &amp; Alerting</a:t>
            </a:r>
            <a:endParaRPr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ONLYOFFICE/9.2.1.43</Application>
  <PresentationFormat>On-screen Show (4:3)</PresentationFormat>
  <Paragraphs>0</Paragraphs>
  <Slides>11</Slides>
  <Notes>11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13</cp:revision>
  <dcterms:modified xsi:type="dcterms:W3CDTF">2026-02-18T17:28:31Z</dcterms:modified>
</cp:coreProperties>
</file>